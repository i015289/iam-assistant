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4" r:id="rId3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251"/>
    <p:restoredTop sz="94677"/>
  </p:normalViewPr>
  <p:slideViewPr>
    <p:cSldViewPr snapToGrid="0" snapToObjects="1">
      <p:cViewPr varScale="1">
        <p:scale>
          <a:sx n="210" d="100"/>
          <a:sy n="210" d="100"/>
        </p:scale>
        <p:origin x="4696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88C5A7D-AC5F-D248-A613-079BD0108901}" type="datetimeFigureOut">
              <a:rPr lang="en-CN" smtClean="0"/>
              <a:t>2026/6/10</a:t>
            </a:fld>
            <a:endParaRPr lang="en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48A455-AEF7-F442-ADCA-DF6B37EA62E5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9637662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48A455-AEF7-F442-ADCA-DF6B37EA62E5}" type="slidenum">
              <a:rPr lang="en-CN" smtClean="0"/>
              <a:t>1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272445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48A455-AEF7-F442-ADCA-DF6B37EA62E5}" type="slidenum">
              <a:rPr lang="en-CN" smtClean="0"/>
              <a:t>38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8039868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tools.sap/I015289/iam-assistant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14400" y="1280160"/>
            <a:ext cx="2194560" cy="502920"/>
          </a:xfrm>
          <a:prstGeom prst="round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SAP ER6  ·  IAM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10332720" cy="12801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6400" b="1">
                <a:solidFill>
                  <a:srgbClr val="FFFFFF"/>
                </a:solidFill>
                <a:latin typeface="Calibri"/>
              </a:rPr>
              <a:t>IAM Assistant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1033272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400" b="0">
                <a:solidFill>
                  <a:srgbClr val="CFDBE8"/>
                </a:solidFill>
                <a:latin typeface="Calibri"/>
              </a:rPr>
              <a:t>A Claude Code–powered assistant for analyzing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611880"/>
            <a:ext cx="1033272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400" b="0">
                <a:solidFill>
                  <a:srgbClr val="CFDBE8"/>
                </a:solidFill>
                <a:latin typeface="Calibri"/>
              </a:rPr>
              <a:t>SAP IAM data on the ER6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10332720" cy="1268039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lang="en-US" sz="1600" b="1" dirty="0">
                <a:solidFill>
                  <a:srgbClr val="E67E22"/>
                </a:solidFill>
                <a:latin typeface="Calibri"/>
              </a:rPr>
              <a:t>Team Member:  John Wang ( I015289 )</a:t>
            </a:r>
          </a:p>
          <a:p>
            <a:pPr algn="l"/>
            <a:r>
              <a:rPr lang="en-US" sz="1600" b="1" dirty="0">
                <a:solidFill>
                  <a:srgbClr val="E67E22"/>
                </a:solidFill>
                <a:latin typeface="Calibri"/>
              </a:rPr>
              <a:t>                              Fiona Wang ( I300238 )</a:t>
            </a:r>
          </a:p>
          <a:p>
            <a:pPr algn="l"/>
            <a:r>
              <a:rPr lang="en-US" sz="1600" b="1" dirty="0">
                <a:solidFill>
                  <a:srgbClr val="E67E22"/>
                </a:solidFill>
                <a:latin typeface="Calibri"/>
              </a:rPr>
              <a:t>                              Sylvia Liu ( I048974 )</a:t>
            </a:r>
          </a:p>
          <a:p>
            <a:pPr algn="l"/>
            <a:r>
              <a:rPr lang="en-US" sz="1600" b="1" dirty="0">
                <a:solidFill>
                  <a:srgbClr val="E67E22"/>
                </a:solidFill>
                <a:latin typeface="Calibri"/>
              </a:rPr>
              <a:t>                              Kai Liu ( I302470 )</a:t>
            </a:r>
          </a:p>
          <a:p>
            <a:pPr algn="l"/>
            <a:r>
              <a:rPr lang="en-US" sz="1600" b="1" dirty="0">
                <a:solidFill>
                  <a:srgbClr val="E67E22"/>
                </a:solidFill>
                <a:latin typeface="Calibri"/>
              </a:rPr>
              <a:t>                             </a:t>
            </a:r>
            <a:endParaRPr sz="1600" b="1" dirty="0">
              <a:solidFill>
                <a:srgbClr val="E67E22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14400" y="5852160"/>
            <a:ext cx="103327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CFDBE8"/>
                </a:solidFill>
                <a:latin typeface="Calibri"/>
              </a:rPr>
              <a:t>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What we will cover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32720" cy="37405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1E3A5F"/>
                </a:solidFill>
                <a:latin typeface="Calibri"/>
              </a:rPr>
              <a:t>1.  The Problem</a:t>
            </a:r>
            <a:r>
              <a:rPr sz="1800" dirty="0">
                <a:solidFill>
                  <a:srgbClr val="333333"/>
                </a:solidFill>
                <a:latin typeface="Calibri"/>
              </a:rPr>
              <a:t>    —    Why IAM analysis on SAP is hard today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1E3A5F"/>
                </a:solidFill>
                <a:latin typeface="Calibri"/>
              </a:rPr>
              <a:t>2.  What is IAM Assistant</a:t>
            </a:r>
            <a:r>
              <a:rPr sz="1800" dirty="0">
                <a:solidFill>
                  <a:srgbClr val="333333"/>
                </a:solidFill>
                <a:latin typeface="Calibri"/>
              </a:rPr>
              <a:t>    —    Two modes — Claude Code CLI and Web UI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1E3A5F"/>
                </a:solidFill>
                <a:latin typeface="Calibri"/>
              </a:rPr>
              <a:t>3.  Architecture</a:t>
            </a:r>
            <a:r>
              <a:rPr sz="1800" dirty="0">
                <a:solidFill>
                  <a:srgbClr val="333333"/>
                </a:solidFill>
                <a:latin typeface="Calibri"/>
              </a:rPr>
              <a:t>    —    End-to-end flow from question to answer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1E3A5F"/>
                </a:solidFill>
                <a:latin typeface="Calibri"/>
              </a:rPr>
              <a:t>4.  Domain Skills</a:t>
            </a:r>
            <a:r>
              <a:rPr sz="1800" dirty="0">
                <a:solidFill>
                  <a:srgbClr val="333333"/>
                </a:solidFill>
                <a:latin typeface="Calibri"/>
              </a:rPr>
              <a:t>    —    Treasury, Cash Management, Finance specialists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1E3A5F"/>
                </a:solidFill>
                <a:latin typeface="Calibri"/>
              </a:rPr>
              <a:t>5.  Workflow Tools</a:t>
            </a:r>
            <a:r>
              <a:rPr sz="1800" dirty="0">
                <a:solidFill>
                  <a:srgbClr val="333333"/>
                </a:solidFill>
                <a:latin typeface="Calibri"/>
              </a:rPr>
              <a:t>    —    /goal, /execute, /memo and quality hooks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1E3A5F"/>
                </a:solidFill>
                <a:latin typeface="Calibri"/>
              </a:rPr>
              <a:t>6.  Live Examples</a:t>
            </a:r>
            <a:r>
              <a:rPr sz="1800" dirty="0">
                <a:solidFill>
                  <a:srgbClr val="333333"/>
                </a:solidFill>
                <a:latin typeface="Calibri"/>
              </a:rPr>
              <a:t>    —    </a:t>
            </a:r>
            <a:r>
              <a:rPr sz="1800" dirty="0" err="1">
                <a:solidFill>
                  <a:srgbClr val="333333"/>
                </a:solidFill>
                <a:latin typeface="Calibri"/>
              </a:rPr>
              <a:t>SoD</a:t>
            </a:r>
            <a:r>
              <a:rPr sz="1800" dirty="0">
                <a:solidFill>
                  <a:srgbClr val="333333"/>
                </a:solidFill>
                <a:latin typeface="Calibri"/>
              </a:rPr>
              <a:t> validation and catalog split scenarios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1E3A5F"/>
                </a:solidFill>
                <a:latin typeface="Calibri"/>
              </a:rPr>
              <a:t>7.  Benefits &amp; Impact</a:t>
            </a:r>
            <a:r>
              <a:rPr sz="1800" dirty="0">
                <a:solidFill>
                  <a:srgbClr val="333333"/>
                </a:solidFill>
                <a:latin typeface="Calibri"/>
              </a:rPr>
              <a:t>    —    Time savings, safety, knowledge accumulation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1E3A5F"/>
                </a:solidFill>
                <a:latin typeface="Calibri"/>
              </a:rPr>
              <a:t>8.  Q&amp;A</a:t>
            </a:r>
            <a:r>
              <a:rPr sz="1800" dirty="0">
                <a:solidFill>
                  <a:srgbClr val="333333"/>
                </a:solidFill>
                <a:latin typeface="Calibri"/>
              </a:rPr>
              <a:t>   </a:t>
            </a:r>
            <a:r>
              <a:rPr lang="en-US" sz="1800" dirty="0">
                <a:solidFill>
                  <a:srgbClr val="333333"/>
                </a:solidFill>
                <a:latin typeface="Calibri"/>
              </a:rPr>
              <a:t>- Questions</a:t>
            </a:r>
            <a:endParaRPr sz="1800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2 / 39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Core IAM terms used throughout this deck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417320"/>
          <a:ext cx="11430000" cy="5125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334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Term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Acronym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Definition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334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Business Role Template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BRT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Top-level role assigned to users; collection of business catalogs.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SAP_BR_TREASURY_SPECIALIST_FOE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334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Business Catalog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BC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Group of Fiori apps with shared restriction types and access rules.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SAP_FIN_BC_TRM_BACK_OFFICE_PC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334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IAM App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Atomic Fiori application unit with auth-object instances and values.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FTRCAI02_B_TRAN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334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Authorization Object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Auth Obj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ABAP entity controlling access; carries fields and activity values.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T_DEAL_PD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334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Activity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ACTVT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Standard SAP activity code (01=Create, 02=Change, 03=Display, …).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01, 02, 16, 85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334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Restriction Type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RT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Reusable scope-restriction grouping fields like company code.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BUKRS_GLRLDNR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334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Segregation of Duties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SoD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Control: same person cannot both perform and approve a sensitive action.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FOE cannot Settle (D3 × 01)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334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Front / Back / Middle Office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FOE / BOE / MOE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Treasury organisational split — trading vs settlement vs risk.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FOE = traders; BOE = settlers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334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Transaction Function Type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TRFCT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Treasury deal lifecycle stage on T_DEAL_*.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D1=Order, D2=Contract, D3=Settle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8334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Hedge Request Category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HREQ_CAT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Hedge management lifecycle category on T_TOE_HR.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A=Designation, D=Dedesignation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8334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Model Context Protocol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MCP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Open standard for connecting LLM agents to external tool servers.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er6_mcp_server.py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8335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ER6 ANZEIGER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Read-only ABAP user used by IAM Assistant; SSL-encrypted.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Display privileges only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3 / 39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108960"/>
            <a:ext cx="12191695" cy="73152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800" b="1">
                <a:solidFill>
                  <a:srgbClr val="2E86C1"/>
                </a:solidFill>
                <a:latin typeface="Calibri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32720" cy="12801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The Problem and the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4 / 39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Analyzing SAP IAM today is slow, manual, and expert-bound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54864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512064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1">
                <a:solidFill>
                  <a:srgbClr val="C0392B"/>
                </a:solidFill>
                <a:latin typeface="Calibri"/>
              </a:rPr>
              <a:t>Today's reality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512064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C0392B"/>
                </a:solidFill>
                <a:latin typeface="Calibri"/>
              </a:rPr>
              <a:t>▸  </a:t>
            </a:r>
            <a:r>
              <a:rPr sz="1300" b="1">
                <a:solidFill>
                  <a:srgbClr val="1E3A5F"/>
                </a:solidFill>
                <a:latin typeface="Calibri"/>
              </a:rPr>
              <a:t>SAP expertise required.</a:t>
            </a:r>
            <a:r>
              <a:rPr sz="1300">
                <a:solidFill>
                  <a:srgbClr val="333333"/>
                </a:solidFill>
                <a:latin typeface="Calibri"/>
              </a:rPr>
              <a:t>  Direct ER6 access via SE16, plus deep table knowledge.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C0392B"/>
                </a:solidFill>
                <a:latin typeface="Calibri"/>
              </a:rPr>
              <a:t>▸  </a:t>
            </a:r>
            <a:r>
              <a:rPr sz="1300" b="1">
                <a:solidFill>
                  <a:srgbClr val="1E3A5F"/>
                </a:solidFill>
                <a:latin typeface="Calibri"/>
              </a:rPr>
              <a:t>Cross-table joins by hand.</a:t>
            </a:r>
            <a:r>
              <a:rPr sz="1300">
                <a:solidFill>
                  <a:srgbClr val="333333"/>
                </a:solidFill>
                <a:latin typeface="Calibri"/>
              </a:rPr>
              <a:t>  APPAUI → APPAUV → BC_APP → BRTBUC...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C0392B"/>
                </a:solidFill>
                <a:latin typeface="Calibri"/>
              </a:rPr>
              <a:t>▸  </a:t>
            </a:r>
            <a:r>
              <a:rPr sz="1300" b="1">
                <a:solidFill>
                  <a:srgbClr val="1E3A5F"/>
                </a:solidFill>
                <a:latin typeface="Calibri"/>
              </a:rPr>
              <a:t>SoD rules in people's heads.</a:t>
            </a:r>
            <a:r>
              <a:rPr sz="1300">
                <a:solidFill>
                  <a:srgbClr val="333333"/>
                </a:solidFill>
                <a:latin typeface="Calibri"/>
              </a:rPr>
              <a:t>  FOE/BOE forbidden combos, TRFCT semantics, country variants.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C0392B"/>
                </a:solidFill>
                <a:latin typeface="Calibri"/>
              </a:rPr>
              <a:t>▸  </a:t>
            </a:r>
            <a:r>
              <a:rPr sz="1300" b="1">
                <a:solidFill>
                  <a:srgbClr val="1E3A5F"/>
                </a:solidFill>
                <a:latin typeface="Calibri"/>
              </a:rPr>
              <a:t>Findings disappear.</a:t>
            </a:r>
            <a:r>
              <a:rPr sz="1300">
                <a:solidFill>
                  <a:srgbClr val="333333"/>
                </a:solidFill>
                <a:latin typeface="Calibri"/>
              </a:rPr>
              <a:t>  No persistent record between sessions or analysts.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C0392B"/>
                </a:solidFill>
                <a:latin typeface="Calibri"/>
              </a:rPr>
              <a:t>▸  </a:t>
            </a:r>
            <a:r>
              <a:rPr sz="1300" b="1">
                <a:solidFill>
                  <a:srgbClr val="1E3A5F"/>
                </a:solidFill>
                <a:latin typeface="Calibri"/>
              </a:rPr>
              <a:t>Slow turnaround.</a:t>
            </a:r>
            <a:r>
              <a:rPr sz="1300">
                <a:solidFill>
                  <a:srgbClr val="333333"/>
                </a:solidFill>
                <a:latin typeface="Calibri"/>
              </a:rPr>
              <a:t>  A single SoD validation can take hours.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463040"/>
            <a:ext cx="54864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1600200"/>
            <a:ext cx="512064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1">
                <a:solidFill>
                  <a:srgbClr val="27AE60"/>
                </a:solidFill>
                <a:latin typeface="Calibri"/>
              </a:rPr>
              <a:t>What we need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103120"/>
            <a:ext cx="512064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7AE60"/>
                </a:solidFill>
                <a:latin typeface="Calibri"/>
              </a:rPr>
              <a:t>▸  </a:t>
            </a:r>
            <a:r>
              <a:rPr sz="1300" b="1">
                <a:solidFill>
                  <a:srgbClr val="1E3A5F"/>
                </a:solidFill>
                <a:latin typeface="Calibri"/>
              </a:rPr>
              <a:t>Natural-language access.</a:t>
            </a:r>
            <a:r>
              <a:rPr sz="1300">
                <a:solidFill>
                  <a:srgbClr val="333333"/>
                </a:solidFill>
                <a:latin typeface="Calibri"/>
              </a:rPr>
              <a:t>  Ask in English; system handles SQL.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7AE60"/>
                </a:solidFill>
                <a:latin typeface="Calibri"/>
              </a:rPr>
              <a:t>▸  </a:t>
            </a:r>
            <a:r>
              <a:rPr sz="1300" b="1">
                <a:solidFill>
                  <a:srgbClr val="1E3A5F"/>
                </a:solidFill>
                <a:latin typeface="Calibri"/>
              </a:rPr>
              <a:t>Encoded domain rules.</a:t>
            </a:r>
            <a:r>
              <a:rPr sz="1300">
                <a:solidFill>
                  <a:srgbClr val="333333"/>
                </a:solidFill>
                <a:latin typeface="Calibri"/>
              </a:rPr>
              <a:t>  SoD matrices, table quirks, query pitfalls.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7AE60"/>
                </a:solidFill>
                <a:latin typeface="Calibri"/>
              </a:rPr>
              <a:t>▸  </a:t>
            </a:r>
            <a:r>
              <a:rPr sz="1300" b="1">
                <a:solidFill>
                  <a:srgbClr val="1E3A5F"/>
                </a:solidFill>
                <a:latin typeface="Calibri"/>
              </a:rPr>
              <a:t>Persistent memory.</a:t>
            </a:r>
            <a:r>
              <a:rPr sz="1300">
                <a:solidFill>
                  <a:srgbClr val="333333"/>
                </a:solidFill>
                <a:latin typeface="Calibri"/>
              </a:rPr>
              <a:t>  Findings survive across sessions.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7AE60"/>
                </a:solidFill>
                <a:latin typeface="Calibri"/>
              </a:rPr>
              <a:t>▸  </a:t>
            </a:r>
            <a:r>
              <a:rPr sz="1300" b="1">
                <a:solidFill>
                  <a:srgbClr val="1E3A5F"/>
                </a:solidFill>
                <a:latin typeface="Calibri"/>
              </a:rPr>
              <a:t>Autonomous multi-step work.</a:t>
            </a:r>
            <a:r>
              <a:rPr sz="1300">
                <a:solidFill>
                  <a:srgbClr val="333333"/>
                </a:solidFill>
                <a:latin typeface="Calibri"/>
              </a:rPr>
              <a:t>  Chain queries; adapt to results.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7AE60"/>
                </a:solidFill>
                <a:latin typeface="Calibri"/>
              </a:rPr>
              <a:t>▸  </a:t>
            </a:r>
            <a:r>
              <a:rPr sz="1300" b="1">
                <a:solidFill>
                  <a:srgbClr val="1E3A5F"/>
                </a:solidFill>
                <a:latin typeface="Calibri"/>
              </a:rPr>
              <a:t>Read-only safety.</a:t>
            </a:r>
            <a:r>
              <a:rPr sz="1300">
                <a:solidFill>
                  <a:srgbClr val="333333"/>
                </a:solidFill>
                <a:latin typeface="Calibri"/>
              </a:rPr>
              <a:t>  No risk to production IAM data.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5 / 39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What is IAM Assistant?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An AI-powered analysis layer on top of SAP ER6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11247120" cy="11887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88136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An interactive assistant that translates natural-language IAM questions into correct multi-step ABAP Open SQL query chains against ER6, returning clean answers — and remembering them.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788920"/>
            <a:ext cx="548640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2788920"/>
            <a:ext cx="5486400" cy="6400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2926080"/>
            <a:ext cx="52120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Mode 1  ·  Claude Code 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383280"/>
            <a:ext cx="5212080" cy="2697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dirty="0">
                <a:solidFill>
                  <a:srgbClr val="333333"/>
                </a:solidFill>
                <a:latin typeface="Calibri"/>
              </a:rPr>
              <a:t>Interactive command-line assistant powered by Claude Opus.
•  Domain skills: /treasury-</a:t>
            </a:r>
            <a:r>
              <a:rPr sz="1200" b="0" dirty="0" err="1">
                <a:solidFill>
                  <a:srgbClr val="333333"/>
                </a:solidFill>
                <a:latin typeface="Calibri"/>
              </a:rPr>
              <a:t>iam</a:t>
            </a:r>
            <a:r>
              <a:rPr sz="1200" b="0" dirty="0">
                <a:solidFill>
                  <a:srgbClr val="333333"/>
                </a:solidFill>
                <a:latin typeface="Calibri"/>
              </a:rPr>
              <a:t>, /cash-</a:t>
            </a:r>
            <a:r>
              <a:rPr sz="1200" b="0" dirty="0" err="1">
                <a:solidFill>
                  <a:srgbClr val="333333"/>
                </a:solidFill>
                <a:latin typeface="Calibri"/>
              </a:rPr>
              <a:t>iam</a:t>
            </a:r>
            <a:r>
              <a:rPr sz="1200" b="0" dirty="0">
                <a:solidFill>
                  <a:srgbClr val="333333"/>
                </a:solidFill>
                <a:latin typeface="Calibri"/>
              </a:rPr>
              <a:t>, /fin-</a:t>
            </a:r>
            <a:r>
              <a:rPr sz="1200" b="0" dirty="0" err="1">
                <a:solidFill>
                  <a:srgbClr val="333333"/>
                </a:solidFill>
                <a:latin typeface="Calibri"/>
              </a:rPr>
              <a:t>iam</a:t>
            </a:r>
            <a:r>
              <a:rPr sz="1200" b="0" dirty="0">
                <a:solidFill>
                  <a:srgbClr val="333333"/>
                </a:solidFill>
                <a:latin typeface="Calibri"/>
              </a:rPr>
              <a:t>
•  Goal-driven autonomous agent: /goal + /execute
•  Persistent memo system: /memo
•  Quality enforcement via three lifecycle hooks
•  Direct MCP access to ER6 — no shell scripting
Best for: deep multi-step investigations, audits, and split planning.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788920"/>
            <a:ext cx="548640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63640" y="2788920"/>
            <a:ext cx="5486400" cy="64008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2926080"/>
            <a:ext cx="52120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Mode 2  ·  Web UI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383280"/>
            <a:ext cx="5212080" cy="1514261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 dirty="0">
                <a:solidFill>
                  <a:srgbClr val="333333"/>
                </a:solidFill>
                <a:latin typeface="Calibri"/>
              </a:rPr>
              <a:t>Browser-based chat UI built on </a:t>
            </a:r>
            <a:r>
              <a:rPr sz="1200" b="0" dirty="0" err="1">
                <a:solidFill>
                  <a:srgbClr val="333333"/>
                </a:solidFill>
                <a:latin typeface="Calibri"/>
              </a:rPr>
              <a:t>FastAPI</a:t>
            </a:r>
            <a:r>
              <a:rPr sz="1200" b="0" dirty="0">
                <a:solidFill>
                  <a:srgbClr val="333333"/>
                </a:solidFill>
                <a:latin typeface="Calibri"/>
              </a:rPr>
              <a:t>.
•  Same Claude model, same MCP tools as the CLI
•  Light / Dark theme 
•  Categorized prompt template library
•  Streaming responses with markdown rendering
Best for: ad-hoc questions, and onboarding new analysts.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6 / 39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5C6A66F-FCFB-1FFF-6A63-3BFE93143E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5057109"/>
            <a:ext cx="3039017" cy="137329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AEB8AF25-9C7A-003D-FABF-AC66798F92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4985646"/>
            <a:ext cx="5537772" cy="121592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108960"/>
            <a:ext cx="12191695" cy="73152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800" b="1">
                <a:solidFill>
                  <a:srgbClr val="E67E22"/>
                </a:solidFill>
                <a:latin typeface="Calibri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32720" cy="12801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7 / 39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Natural language in, validated answers 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09447" y="1828800"/>
            <a:ext cx="2011680" cy="1371600"/>
          </a:xfrm>
          <a:prstGeom prst="round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9447" y="1965960"/>
            <a:ext cx="20116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User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447" y="2423160"/>
            <a:ext cx="2011680" cy="7772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Analyst asks a
question in English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39415" y="2331720"/>
            <a:ext cx="192024" cy="365760"/>
          </a:xfrm>
          <a:prstGeom prst="rightArrow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849727" y="1828800"/>
            <a:ext cx="2011680" cy="1371600"/>
          </a:xfrm>
          <a:prstGeom prst="round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49727" y="1965960"/>
            <a:ext cx="20116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Claude (Opus)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49727" y="2423160"/>
            <a:ext cx="2011680" cy="7772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Selects skill;
plans queries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879695" y="2331720"/>
            <a:ext cx="192024" cy="365760"/>
          </a:xfrm>
          <a:prstGeom prst="rightArrow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090007" y="1828800"/>
            <a:ext cx="2011680" cy="1371600"/>
          </a:xfrm>
          <a:prstGeom prst="round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90007" y="1965960"/>
            <a:ext cx="20116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Skills + Hooks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90007" y="2423160"/>
            <a:ext cx="2011680" cy="7772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Calibri"/>
              </a:rPr>
              <a:t>Domain context
and validation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119975" y="2331720"/>
            <a:ext cx="192024" cy="365760"/>
          </a:xfrm>
          <a:prstGeom prst="rightArrow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330287" y="1828800"/>
            <a:ext cx="2011680" cy="1371600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30287" y="1965960"/>
            <a:ext cx="20116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MCP Server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30287" y="2423160"/>
            <a:ext cx="2011680" cy="7772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100" b="0" dirty="0">
                <a:solidFill>
                  <a:srgbClr val="FFFFFF"/>
                </a:solidFill>
                <a:latin typeface="Calibri"/>
              </a:rPr>
              <a:t>ER6 tool layer
(</a:t>
            </a:r>
            <a:r>
              <a:rPr sz="1100" b="0" dirty="0" err="1">
                <a:solidFill>
                  <a:srgbClr val="FFFFFF"/>
                </a:solidFill>
                <a:latin typeface="Calibri"/>
              </a:rPr>
              <a:t>stdio</a:t>
            </a:r>
            <a:r>
              <a:rPr sz="1100" b="0" dirty="0">
                <a:solidFill>
                  <a:srgbClr val="FFFFFF"/>
                </a:solidFill>
                <a:latin typeface="Calibri"/>
              </a:rPr>
              <a:t> JSON-RPC)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360255" y="2331720"/>
            <a:ext cx="192024" cy="365760"/>
          </a:xfrm>
          <a:prstGeom prst="rightArrow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9570567" y="1828800"/>
            <a:ext cx="2011680" cy="1371600"/>
          </a:xfrm>
          <a:prstGeom prst="round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570567" y="1965960"/>
            <a:ext cx="20116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SAP ER6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70567" y="2423160"/>
            <a:ext cx="2011680" cy="7772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100" b="0" dirty="0">
                <a:solidFill>
                  <a:srgbClr val="FFFFFF"/>
                </a:solidFill>
                <a:latin typeface="Calibri"/>
              </a:rPr>
              <a:t>ABAP Open SQL
(read-only ANZEIGER)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52044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200" b="0">
                <a:solidFill>
                  <a:srgbClr val="666666"/>
                </a:solidFill>
                <a:latin typeface="Calibri"/>
              </a:rPr>
              <a:t>Result rows + analysis stream back to the user with citations to the queries that produced them.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06908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1">
                <a:solidFill>
                  <a:srgbClr val="1E3A5F"/>
                </a:solidFill>
                <a:latin typeface="Calibri"/>
              </a:rPr>
              <a:t>Stack components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57200" y="4434840"/>
          <a:ext cx="11247120" cy="18418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Frontend (UI)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FastAPI + Jinja2 + vanilla JS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Light/Dark theme, streaming chat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LLM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Claude Opus (latest)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Via Hyperspace proxy at localhost:6655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Skills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Markdown skill files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Mirrored to .claude/skills, .claude/commands, skills/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MCP Server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er6_mcp_server.py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stdio JSON-RPC; six ER6 tools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ER6 (ABAP)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ANZEIGER user, read-only, SSL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25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Hooks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Bash hooks in .claude/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validate-memo, sync-skills, log-query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8 / 39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MCP Tool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Six ER6 tools exposed to Claude over stdio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417320"/>
          <a:ext cx="11430000" cy="24645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Typical use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Mean latency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mcp__er6__query_sql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Run ABAP Open SQL SELECT statements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Auth value lookups, BRT mapping, joins by hand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10.1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mcp__er6__read_table_def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Read DDIC table / structure DDL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Verify column names before writing SQL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8.9 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mcp__er6__read_cds_view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Read CDS view (DDLS) source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Inspect view logic, parameters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~9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mcp__er6__read_class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Read ABAP class source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Trace BAdI / handler implementation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~9 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mcp__er6__read_program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Read program / report source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Inspect helper reports, generated programs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~9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mcp__er6__list_package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List all objects in a package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Discover SIA6 apps in CLOUD_FI_TR_IAM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17.3 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3977639"/>
            <a:ext cx="114300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Calibri"/>
              </a:rPr>
              <a:t>ABAP Open SQL constraints  ·  what Claude knows to avoid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389120"/>
            <a:ext cx="11430000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E67E22"/>
                </a:solidFill>
                <a:latin typeface="Calibri"/>
              </a:rPr>
              <a:t>▸  </a:t>
            </a:r>
            <a:r>
              <a:rPr sz="1100" b="1">
                <a:solidFill>
                  <a:srgbClr val="1E3A5F"/>
                </a:solidFill>
                <a:latin typeface="Calibri"/>
              </a:rPr>
              <a:t>No JOINs.</a:t>
            </a:r>
            <a:r>
              <a:rPr sz="1100">
                <a:solidFill>
                  <a:srgbClr val="333333"/>
                </a:solidFill>
                <a:latin typeface="Calibri"/>
              </a:rPr>
              <a:t>  Run separate queries; correlate in memory.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E67E22"/>
                </a:solidFill>
                <a:latin typeface="Calibri"/>
              </a:rPr>
              <a:t>▸  </a:t>
            </a:r>
            <a:r>
              <a:rPr sz="1100" b="1">
                <a:solidFill>
                  <a:srgbClr val="1E3A5F"/>
                </a:solidFill>
                <a:latin typeface="Calibri"/>
              </a:rPr>
              <a:t>No subqueries.</a:t>
            </a:r>
            <a:r>
              <a:rPr sz="1100">
                <a:solidFill>
                  <a:srgbClr val="333333"/>
                </a:solidFill>
                <a:latin typeface="Calibri"/>
              </a:rPr>
              <a:t>  Same — break into multiple round-trips.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E67E22"/>
                </a:solidFill>
                <a:latin typeface="Calibri"/>
              </a:rPr>
              <a:t>▸  </a:t>
            </a:r>
            <a:r>
              <a:rPr sz="1100" b="1">
                <a:solidFill>
                  <a:srgbClr val="1E3A5F"/>
                </a:solidFill>
                <a:latin typeface="Calibri"/>
              </a:rPr>
              <a:t>UP TO N ROWS + WHERE is rejected.</a:t>
            </a:r>
            <a:r>
              <a:rPr sz="1100">
                <a:solidFill>
                  <a:srgbClr val="333333"/>
                </a:solidFill>
                <a:latin typeface="Calibri"/>
              </a:rPr>
              <a:t>  Use the rows parameter on query_sql instead — always safe.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E67E22"/>
                </a:solidFill>
                <a:latin typeface="Calibri"/>
              </a:rPr>
              <a:t>▸  </a:t>
            </a:r>
            <a:r>
              <a:rPr sz="1100" b="1">
                <a:solidFill>
                  <a:srgbClr val="1E3A5F"/>
                </a:solidFill>
                <a:latin typeface="Calibri"/>
              </a:rPr>
              <a:t>UP TO N ROWS without WHERE is fine.</a:t>
            </a:r>
            <a:r>
              <a:rPr sz="1100">
                <a:solidFill>
                  <a:srgbClr val="333333"/>
                </a:solidFill>
                <a:latin typeface="Calibri"/>
              </a:rPr>
              <a:t>  But the rows parameter is preferred for consistency.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E67E22"/>
                </a:solidFill>
                <a:latin typeface="Calibri"/>
              </a:rPr>
              <a:t>▸  </a:t>
            </a:r>
            <a:r>
              <a:rPr sz="1100" b="1">
                <a:solidFill>
                  <a:srgbClr val="1E3A5F"/>
                </a:solidFill>
                <a:latin typeface="Calibri"/>
              </a:rPr>
              <a:t>APS_IAM_W_BUC is not directly queryable.</a:t>
            </a:r>
            <a:r>
              <a:rPr sz="1100">
                <a:solidFill>
                  <a:srgbClr val="333333"/>
                </a:solidFill>
                <a:latin typeface="Calibri"/>
              </a:rPr>
              <a:t>  Use APS_IAM_W_BRTBUC or APS_IAM_W_BC_APP instead.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E67E22"/>
                </a:solidFill>
                <a:latin typeface="Calibri"/>
              </a:rPr>
              <a:t>▸  </a:t>
            </a:r>
            <a:r>
              <a:rPr sz="1100" b="1">
                <a:solidFill>
                  <a:srgbClr val="1E3A5F"/>
                </a:solidFill>
                <a:latin typeface="Calibri"/>
              </a:rPr>
              <a:t>SUI_TM_MM_APP stores Treasury app IDs as GUIDs.</a:t>
            </a:r>
            <a:r>
              <a:rPr sz="1100">
                <a:solidFill>
                  <a:srgbClr val="333333"/>
                </a:solidFill>
                <a:latin typeface="Calibri"/>
              </a:rPr>
              <a:t>  Use APS_IAM_W_BC_APP for app-name lookups.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E67E22"/>
                </a:solidFill>
                <a:latin typeface="Calibri"/>
              </a:rPr>
              <a:t>▸  </a:t>
            </a:r>
            <a:r>
              <a:rPr sz="1100" b="1">
                <a:solidFill>
                  <a:srgbClr val="1E3A5F"/>
                </a:solidFill>
                <a:latin typeface="Calibri"/>
              </a:rPr>
              <a:t>Active vs superseded instances.</a:t>
            </a:r>
            <a:r>
              <a:rPr sz="1100">
                <a:solidFill>
                  <a:srgbClr val="333333"/>
                </a:solidFill>
                <a:latin typeface="Calibri"/>
              </a:rPr>
              <a:t>  INACTIVE = blank means active; INACTIVE = 'X' means superseded.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9 / 39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Data Dictionary  · 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The ER6 tables that drive every IAM analysis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417320"/>
          <a:ext cx="11430000" cy="5047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223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Table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Domain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Key Columns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223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TDEVC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Foundation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ABAP packages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DEVCLASS, PACKTYPE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223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TADIR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Foundation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ABAP object registry — find SIA6 app objects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OBJ_NAME, OBJECT, PGMID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223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USOBT / USOBX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Auth defaults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T-code → required auth objects mapping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NAME (TCODE), OBJECT, TYPE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223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APS_IAM_W_APP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App registry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Master list of IAM apps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APP_ID, APP_TYPE, TCODE, READ_ONLY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223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APS_IAM_W_APPT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App registry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App display texts (multi-language)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APP_ID, LANGU, 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223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APS_IAM_W_APPAUI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App authz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Auth object instances per app (UUID-keyed)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APP_ID, UUID, AUTH_OBJECT, INACTIVE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223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APS_IAM_W_APPAUV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App authz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Field-level values (TRFCT, ACTVT, …)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APP_ID, UUID, PARENT_ID, FIELD, LOW/HIGH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223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APS_IAM_W_APPAUO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App authz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Auth object exclusions (outbound)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APP_ID, AUTH_OBJECT, STATUS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223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APS_IAM_W_BC_APP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Catalog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Business catalog ↔ app assignments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BU_CATALOG_ID, APP_ID, IS_FOLDER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223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APS_IAM_W_BUC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Catalog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Business Catalog master  (⚠ not directly queryable)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BU_CATALOG_ID, AGR_NAME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223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APS_IAM_W_BRTBUC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BRT ↔ Business Catalog assignments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BRT_ID, BU_CATALOG_ID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3223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APS_IAM_W_BRT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Business Role Template master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BRT_ID, SCOPE_DEPENDENT, FIORI_SPACE_ID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3223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APS_IAM_W_RT / RR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Restriction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Restriction-type and restriction-rule masters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RTYPE_ID, AUTH_OBJECT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3223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SUI_TM_MM_APP / CAT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Launchpad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Fiori Launchpad app↔catalog mapping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APP_ID (GUID for TRM), CAT_ID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10 / 39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Table Relationships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How a question flows through the schema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27432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508760"/>
            <a:ext cx="2743200" cy="38404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56032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APS_IAM_W_BRT  ·  BRT master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1965960"/>
            <a:ext cx="256032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BRT_ID, FIORI_SPACE_ID, SCOPE_DEPENDENT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606040"/>
            <a:ext cx="27432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65760" y="2606040"/>
            <a:ext cx="2743200" cy="3840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660904"/>
            <a:ext cx="256032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APS_IAM_W_BRTBUC  ·  BRT→BC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3063240"/>
            <a:ext cx="256032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BRT_ID, BU_CATALOG_ID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703320"/>
            <a:ext cx="27432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65760" y="3703320"/>
            <a:ext cx="2743200" cy="3840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3758184"/>
            <a:ext cx="256032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APS_IAM_W_BC_APP  ·  BC→App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" y="4160520"/>
            <a:ext cx="256032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BU_CATALOG_ID, APP_ID, IS_FOLDER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3703320"/>
            <a:ext cx="27432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297680" y="3703320"/>
            <a:ext cx="2743200" cy="384048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89120" y="3758184"/>
            <a:ext cx="256032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APS_IAM_W_APP  ·  App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4160520"/>
            <a:ext cx="256032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APP_ID, TCODE, APP_TYPE, READ_ONLY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7680" y="4800600"/>
            <a:ext cx="27432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297680" y="4800600"/>
            <a:ext cx="2743200" cy="384048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389120" y="4855464"/>
            <a:ext cx="256032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APS_IAM_W_APPAUI  ·  Instances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07408" y="5257800"/>
            <a:ext cx="256032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APP_ID, UUID, AUTH_OBJECT, INACTIVE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0" y="4800600"/>
            <a:ext cx="36576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229600" y="4800600"/>
            <a:ext cx="3657600" cy="384048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321040" y="4855464"/>
            <a:ext cx="347472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APS_IAM_W_APPAUV  ·  Field values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9328" y="5257800"/>
            <a:ext cx="347472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APP_ID, UUID, PARENT_ID, FIELD, LOW_VALUE, HIGH_VALUE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0" y="3703320"/>
            <a:ext cx="36576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229600" y="3703320"/>
            <a:ext cx="3657600" cy="384048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321040" y="3758184"/>
            <a:ext cx="347472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APS_IAM_W_AU  ·  Auth obj registry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9328" y="4160520"/>
            <a:ext cx="347472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AUTH_OBJECT_ID, AUTH_OBJECT, ACTIVITY_FIELD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737360" y="2331720"/>
            <a:ext cx="0" cy="274320"/>
          </a:xfrm>
          <a:prstGeom prst="line">
            <a:avLst/>
          </a:prstGeom>
          <a:ln w="1905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737360" y="3429000"/>
            <a:ext cx="0" cy="274320"/>
          </a:xfrm>
          <a:prstGeom prst="line">
            <a:avLst/>
          </a:prstGeom>
          <a:ln w="1905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3108960" y="4114800"/>
            <a:ext cx="1188720" cy="0"/>
          </a:xfrm>
          <a:prstGeom prst="line">
            <a:avLst/>
          </a:prstGeom>
          <a:ln w="1905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669280" y="4526280"/>
            <a:ext cx="0" cy="274320"/>
          </a:xfrm>
          <a:prstGeom prst="line">
            <a:avLst/>
          </a:prstGeom>
          <a:ln w="1905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040880" y="5212080"/>
            <a:ext cx="1188720" cy="0"/>
          </a:xfrm>
          <a:prstGeom prst="line">
            <a:avLst/>
          </a:prstGeom>
          <a:ln w="1905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7040880" y="4114800"/>
            <a:ext cx="1188720" cy="0"/>
          </a:xfrm>
          <a:prstGeom prst="line">
            <a:avLst/>
          </a:prstGeom>
          <a:ln w="1905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365760" y="5852160"/>
            <a:ext cx="114300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1E3A5F"/>
                </a:solidFill>
                <a:latin typeface="Calibri"/>
              </a:rPr>
              <a:t>Typical SoD validation chain  ·  BRT  →  BRTBUC  →  BC_APP  →  APP  →  APPAUI  →  APPAUV  →  rule check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6172200"/>
            <a:ext cx="114300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PARENT_ID on APPAUV links each value back to its APPAUI instance via UUID.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11 / 39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Skill Files  ·  Where Domain Knowledge Lives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Versioned markdown — not conversation history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114300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Calibri"/>
              </a:rPr>
              <a:t>Anatomy of a skill file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828800"/>
            <a:ext cx="6858000" cy="365760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901952"/>
            <a:ext cx="6675120" cy="3511296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---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name: treasury-iam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description: Treasury IAM specialist — FOE/BOE SoD,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         T_DEAL_*, T_TOE_HR, country variants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---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## When to use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- Validate FOE / BOE / MOE SoD compliance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- Plan catalog splits for forbidden combinations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- Audit hedge request management on T_TOE_HR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## Forbidden combinations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FOE: D3×01, D3×85, D2×AB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BOE: D2×01, D2×02, D2×16, D2×85, D2×KU, D2×VF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## Workflow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1. Look up the app in APS_IAM_W_APP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2. Find catalog via APS_IAM_W_BC_APP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3. Pull APPAUI then APPAUV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4. Cross-check forbidden matrix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828800"/>
            <a:ext cx="42976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Three sync targets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2194560"/>
            <a:ext cx="4297680" cy="1828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2E86C1"/>
                </a:solidFill>
                <a:latin typeface="Calibri"/>
              </a:rPr>
              <a:t>▸  </a:t>
            </a:r>
            <a:r>
              <a:rPr sz="1100" b="1">
                <a:solidFill>
                  <a:srgbClr val="1E3A5F"/>
                </a:solidFill>
                <a:latin typeface="Calibri"/>
              </a:rPr>
              <a:t>.claude/skills/</a:t>
            </a:r>
            <a:r>
              <a:rPr sz="1100">
                <a:solidFill>
                  <a:srgbClr val="333333"/>
                </a:solidFill>
                <a:latin typeface="Calibri"/>
              </a:rPr>
              <a:t>  Source of truth — edit here.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2E86C1"/>
                </a:solidFill>
                <a:latin typeface="Calibri"/>
              </a:rPr>
              <a:t>▸  </a:t>
            </a:r>
            <a:r>
              <a:rPr sz="1100" b="1">
                <a:solidFill>
                  <a:srgbClr val="1E3A5F"/>
                </a:solidFill>
                <a:latin typeface="Calibri"/>
              </a:rPr>
              <a:t>skills/</a:t>
            </a:r>
            <a:r>
              <a:rPr sz="1100">
                <a:solidFill>
                  <a:srgbClr val="333333"/>
                </a:solidFill>
                <a:latin typeface="Calibri"/>
              </a:rPr>
              <a:t>  Mirror with frontmatter — for git diffs.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2E86C1"/>
                </a:solidFill>
                <a:latin typeface="Calibri"/>
              </a:rPr>
              <a:t>▸  </a:t>
            </a:r>
            <a:r>
              <a:rPr sz="1100" b="1">
                <a:solidFill>
                  <a:srgbClr val="1E3A5F"/>
                </a:solidFill>
                <a:latin typeface="Calibri"/>
              </a:rPr>
              <a:t>.claude/commands/</a:t>
            </a:r>
            <a:r>
              <a:rPr sz="1100">
                <a:solidFill>
                  <a:srgbClr val="333333"/>
                </a:solidFill>
                <a:latin typeface="Calibri"/>
              </a:rPr>
              <a:t>  Slash command — frontmatter stripped.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4160520"/>
            <a:ext cx="42976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Two activation modes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4526280"/>
            <a:ext cx="429768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27AE60"/>
                </a:solidFill>
                <a:latin typeface="Calibri"/>
              </a:rPr>
              <a:t>▸  </a:t>
            </a:r>
            <a:r>
              <a:rPr sz="1100" b="1">
                <a:solidFill>
                  <a:srgbClr val="1E3A5F"/>
                </a:solidFill>
                <a:latin typeface="Calibri"/>
              </a:rPr>
              <a:t>Explicit.</a:t>
            </a:r>
            <a:r>
              <a:rPr sz="1100">
                <a:solidFill>
                  <a:srgbClr val="333333"/>
                </a:solidFill>
                <a:latin typeface="Calibri"/>
              </a:rPr>
              <a:t>  Type /treasury-iam — full context loaded immediately.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27AE60"/>
                </a:solidFill>
                <a:latin typeface="Calibri"/>
              </a:rPr>
              <a:t>▸  </a:t>
            </a:r>
            <a:r>
              <a:rPr sz="1100" b="1">
                <a:solidFill>
                  <a:srgbClr val="1E3A5F"/>
                </a:solidFill>
                <a:latin typeface="Calibri"/>
              </a:rPr>
              <a:t>Automatic.</a:t>
            </a:r>
            <a:r>
              <a:rPr sz="1100">
                <a:solidFill>
                  <a:srgbClr val="333333"/>
                </a:solidFill>
                <a:latin typeface="Calibri"/>
              </a:rPr>
              <a:t>  Keyword match (FOE, T_DEAL, hedge…) triggers selection.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12 / 39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108960"/>
            <a:ext cx="12191695" cy="73152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800" b="1">
                <a:solidFill>
                  <a:srgbClr val="27AE60"/>
                </a:solidFill>
                <a:latin typeface="Calibri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32720" cy="12801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Domain Skills in 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13 / 39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Domain Skills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Three IAM specialists with full encoded domain knowledge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508760"/>
            <a:ext cx="3657600" cy="429768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3657600" cy="54864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329184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/treasury-iam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86000"/>
            <a:ext cx="32918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Calibri"/>
              </a:rPr>
              <a:t>Scope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42032"/>
            <a:ext cx="329184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Treasury (TRM)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154680"/>
            <a:ext cx="32918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Calibri"/>
              </a:rPr>
              <a:t>Auth objects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10712"/>
            <a:ext cx="329184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T_DEAL_PD / PF / DP / AG, T_TOE_HR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23360"/>
            <a:ext cx="32918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Calibri"/>
              </a:rPr>
              <a:t>SoD rules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79392"/>
            <a:ext cx="329184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FOE / BOE / MOE forbidden TRFCT × ACTVT matrices, hedge SoD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92040"/>
            <a:ext cx="32918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Calibri"/>
              </a:rPr>
              <a:t>Coverage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148072"/>
            <a:ext cx="329184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30+ auth objects, BRT inventory, country variants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61688" y="1508760"/>
            <a:ext cx="3657600" cy="429768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361688" y="1508760"/>
            <a:ext cx="3657600" cy="54864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44568" y="1600200"/>
            <a:ext cx="329184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/cash-iam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4568" y="2286000"/>
            <a:ext cx="32918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Calibri"/>
              </a:rPr>
              <a:t>Scope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4568" y="2542032"/>
            <a:ext cx="329184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Cash Management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44568" y="3154680"/>
            <a:ext cx="32918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Calibri"/>
              </a:rPr>
              <a:t>Auth objects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44568" y="3410712"/>
            <a:ext cx="329184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F_CLM_BAM / BAOR / BKCR / BAI / BAIC / BAH2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44568" y="4023360"/>
            <a:ext cx="32918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Calibri"/>
              </a:rPr>
              <a:t>SoD rules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44568" y="4279392"/>
            <a:ext cx="329184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Four-eyes principle (submit ≠ approve)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44568" y="4892040"/>
            <a:ext cx="32918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Calibri"/>
              </a:rPr>
              <a:t>Coverage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44568" y="5148072"/>
            <a:ext cx="329184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BAM2, BAA submit/approve, BAI catalogs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66176" y="1508760"/>
            <a:ext cx="3657600" cy="429768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266176" y="1508760"/>
            <a:ext cx="3657600" cy="5486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449056" y="1600200"/>
            <a:ext cx="329184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/fin-iam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49056" y="2286000"/>
            <a:ext cx="32918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Calibri"/>
              </a:rPr>
              <a:t>Scope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49056" y="2542032"/>
            <a:ext cx="329184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Finance — AP / AR / GL / BA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49056" y="3154680"/>
            <a:ext cx="32918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Calibri"/>
              </a:rPr>
              <a:t>Auth objects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49056" y="3410712"/>
            <a:ext cx="329184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F_BKPF_BUK / BLA / KOA, F_LFA1_BUK, F_KNA1_BUK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49056" y="4023360"/>
            <a:ext cx="32918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Calibri"/>
              </a:rPr>
              <a:t>SoD rules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49056" y="4279392"/>
            <a:ext cx="329184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Payment-run SoD, AR dunning, GL posting controls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49056" y="4892040"/>
            <a:ext cx="32918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Calibri"/>
              </a:rPr>
              <a:t>Coverage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49056" y="5148072"/>
            <a:ext cx="329184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AP, AR, GL, BA packages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200" b="0">
                <a:solidFill>
                  <a:srgbClr val="666666"/>
                </a:solidFill>
                <a:latin typeface="Calibri"/>
              </a:rPr>
              <a:t>Activated explicitly  (e.g. /treasury-iam)  or automatically by keyword match.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14 / 39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Treasury SoD  ·  Forbidden Matrices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Encoded in /treasury-iam — checked automatically on every analysis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>
                <a:solidFill>
                  <a:srgbClr val="C0392B"/>
                </a:solidFill>
                <a:latin typeface="Calibri"/>
              </a:rPr>
              <a:t>FOE catalog must NOT contain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828800"/>
          <a:ext cx="54864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TRFCT</a:t>
                      </a:r>
                    </a:p>
                  </a:txBody>
                  <a:tcPr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ACTVT</a:t>
                      </a:r>
                    </a:p>
                  </a:txBody>
                  <a:tcPr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>
                    <a:solidFill>
                      <a:srgbClr val="C039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D3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Create settlement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D3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85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Reverse settlement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D2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AB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Settle contract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333756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>
                <a:solidFill>
                  <a:srgbClr val="C0392B"/>
                </a:solidFill>
                <a:latin typeface="Calibri"/>
              </a:rPr>
              <a:t>BOE catalog must NOT contain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3749039"/>
          <a:ext cx="54864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TRFCT</a:t>
                      </a:r>
                    </a:p>
                  </a:txBody>
                  <a:tcPr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ACTVT</a:t>
                      </a:r>
                    </a:p>
                  </a:txBody>
                  <a:tcPr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>
                    <a:solidFill>
                      <a:srgbClr val="C039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D2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Create contract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D2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02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Edit contract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D2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Execute contract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D2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85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Reverse contract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D2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KU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Give Notice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D2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VF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Expire contract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141732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>
                <a:solidFill>
                  <a:srgbClr val="C0392B"/>
                </a:solidFill>
                <a:latin typeface="Calibri"/>
              </a:rPr>
              <a:t>Hedge (T_TOE_HR)  ·  MOE forbidden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1828800"/>
          <a:ext cx="5486400" cy="18470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HREQ_CAT</a:t>
                      </a:r>
                    </a:p>
                  </a:txBody>
                  <a:tcPr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ACTVT</a:t>
                      </a:r>
                    </a:p>
                  </a:txBody>
                  <a:tcPr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>
                    <a:solidFill>
                      <a:srgbClr val="C039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Release manual designation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85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Reverse manual designation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Release dedesignation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85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Reverse dedesignation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263640" y="361188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>
                <a:solidFill>
                  <a:srgbClr val="C0392B"/>
                </a:solidFill>
                <a:latin typeface="Calibri"/>
              </a:rPr>
              <a:t>Hedge (T_TOE_HR)  ·  Accountant forbidden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263640" y="4023360"/>
          <a:ext cx="5486400" cy="27301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HREQ_CAT</a:t>
                      </a:r>
                    </a:p>
                  </a:txBody>
                  <a:tcPr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ACTVT</a:t>
                      </a:r>
                    </a:p>
                  </a:txBody>
                  <a:tcPr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>
                    <a:solidFill>
                      <a:srgbClr val="C039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Create manual designation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02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Change manual designation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Delete manual designation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01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Create dedesignation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Change dedesignation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06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33333"/>
                          </a:solidFill>
                          <a:latin typeface="Calibri"/>
                        </a:rPr>
                        <a:t>Delete dedesignation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15 / 39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Treasury BRTs and Auth Objects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What roles look like, what objects they touch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114300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Calibri"/>
              </a:rPr>
              <a:t>Business Role Templates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828800"/>
          <a:ext cx="11430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BRT ID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Display Name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Office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Responsibility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SAP_BR_TREASURY_SPECIALIST_FOE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Treasury Specialist · Front Office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FOE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Place orders, manage trading positions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SAP_BR_TREASURY_SPECIALIST_BOE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Treasury Specialist · Back Office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BOE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Settle contracts, post payments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SAP_BR_TREASURY_SPECIALIST_MOE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Treasury Specialist · Middle Office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MOE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Risk monitoring, hedge designation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SAP_BR_TREASURY_ACCOUNTANT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Treasury Accountant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BOE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Accounting close, dedesignation release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SAP_BR_TREASURY_RISK_MANAGER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Treasury Risk Manager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Mixed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Limit setting, exposure analysis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3794760"/>
            <a:ext cx="114300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Country variants  ·  _CN, _SG, _TH, _BR follow the same catalog pattern as the base BRT.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160520"/>
            <a:ext cx="114300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Calibri"/>
              </a:rPr>
              <a:t>Core auth objects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4572000"/>
          <a:ext cx="11430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Auth Object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Scope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Applies to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Key fields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T_DEAL_PD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Company / product / transaction type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All transactions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TRFCT, ACTVT, BUKRS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T_DEAL_PF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Company / portfolio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All transactions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TRFCT, ACTVT, BUKRS, RPORTB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T_DEAL_DP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Company / securities account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Securities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TRFCT, ACTVT, BUKRS, RDEPO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T_DEAL_AG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Company / authorization group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Unused in cloud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TRFCT, ACTVT, BUKRS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T_TOE_HR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Hedge request management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Hedge designation flow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HREQ_CAT, ACTVT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16 / 39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Cash Management  ·  Auth Objects &amp; Activity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Bank account governance and the four-eyes principle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114300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Calibri"/>
              </a:rPr>
              <a:t>Authorization objects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82880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350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Auth Object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Key ACTVT values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35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F_CLM_BAM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Bank account master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01=Create, 02=Change, 03=Display, 06=Delete, 63=Transport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35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F_CLM_BAOR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Bank account opening request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03=Display, 31=Approve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35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F_CLM_BKCR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Bank account change request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01=Create, 02=Change, 03=Display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35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F_CLM_BAI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Bank account interest records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03=Display, 06=Delete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35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F_CLM_BAIC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Bank account interest conditions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01=Create, 02=Change, 03=Display, 06=Delete, F4=Value Help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351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F_CLM_BAH2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Bank account hierarchy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01=Create, 02=Change, 03=Display, 06=Delete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160520"/>
            <a:ext cx="114300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Calibri"/>
              </a:rPr>
              <a:t>Activity matrix per key Cash Management app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4572000"/>
          <a:ext cx="11430000" cy="2209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App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F_CLM_BAM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F_CLM_BAOR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F_CLM_BKCR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F1366_TRAN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Manage Bank Accounts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01, 02, 03, 06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F1366A_TRAN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Display Bank Accounts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03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F5861_TRAN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Submit Applications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(submit flow)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F5859_TRAN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Approve Applications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03, 31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F5860_TRAN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Applications Overview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03, 31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F6264_TRAN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Approve Changes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03, 63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01, 02, 03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F9015_TRAN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Monitor Interest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F9017_TRAN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Manage Interest Conditions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03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17 / 39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Finance  ·  AP / AR / GL / 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Auth objects and SoD touchpoints across the FI flows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41732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Sub-domain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Package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Core auth objects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SoD focus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Accounts Payable (AP)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CLOUD_FI_AP_IAM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F_BKPF_BUK / BLA / KOA, F_LFA1_BUK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Invoice creation ≠ payment approval (four-eyes)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Accounts Receivable (AR)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CLOUD_FI_AR_IAM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F_BKPF_BUK / BLA / KOA, F_KNA1_BUK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Dunning ≠ incoming payment posting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General Ledger (GL)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CLOUD_FI_GL_IAM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F_BKPF_BUK / BLA / KOA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Posting ≠ verification ≠ park-and-release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Bank Accounting (BA)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CLOUD_FI_BA_IAM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F_BKPF_BUK + bank statement objects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Statement upload ≠ posting ≠ reconciliation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3749039"/>
            <a:ext cx="114300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>
                <a:solidFill>
                  <a:srgbClr val="1E3A5F"/>
                </a:solidFill>
                <a:latin typeface="Calibri"/>
              </a:rPr>
              <a:t>Example  ·  AP payment-run SoD flow</a:t>
            </a:r>
          </a:p>
        </p:txBody>
      </p:sp>
      <p:sp>
        <p:nvSpPr>
          <p:cNvPr id="8" name="Rectangle 7"/>
          <p:cNvSpPr/>
          <p:nvPr/>
        </p:nvSpPr>
        <p:spPr>
          <a:xfrm>
            <a:off x="655167" y="4206240"/>
            <a:ext cx="338328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5167" y="4206240"/>
            <a:ext cx="3383280" cy="41148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327" y="4279392"/>
            <a:ext cx="310896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Propose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4709160"/>
            <a:ext cx="31089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400" b="1">
                <a:solidFill>
                  <a:srgbClr val="1E3A5F"/>
                </a:solidFill>
                <a:latin typeface="Consolas"/>
              </a:rPr>
              <a:t>F0770_TRAN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27" y="5074920"/>
            <a:ext cx="31089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Schedule Payment Proposal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084167" y="4754880"/>
            <a:ext cx="274320" cy="365760"/>
          </a:xfrm>
          <a:prstGeom prst="rightArrow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404207" y="4206240"/>
            <a:ext cx="338328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404207" y="4206240"/>
            <a:ext cx="3383280" cy="41148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41367" y="4279392"/>
            <a:ext cx="310896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Revise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367" y="4709160"/>
            <a:ext cx="31089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400" b="1">
                <a:solidFill>
                  <a:srgbClr val="1E3A5F"/>
                </a:solidFill>
                <a:latin typeface="Consolas"/>
              </a:rPr>
              <a:t>F0771_TRAN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1367" y="5074920"/>
            <a:ext cx="31089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Revise Payment Proposal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833207" y="4754880"/>
            <a:ext cx="274320" cy="365760"/>
          </a:xfrm>
          <a:prstGeom prst="rightArrow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153247" y="4206240"/>
            <a:ext cx="338328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153247" y="4206240"/>
            <a:ext cx="3383280" cy="41148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90407" y="4279392"/>
            <a:ext cx="310896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Approve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0407" y="4709160"/>
            <a:ext cx="31089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400" b="1">
                <a:solidFill>
                  <a:srgbClr val="1E3A5F"/>
                </a:solidFill>
                <a:latin typeface="Consolas"/>
              </a:rPr>
              <a:t>F0673A_TRAN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0407" y="5074920"/>
            <a:ext cx="31089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Approve Payment Run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5852160"/>
            <a:ext cx="114300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100" b="1">
                <a:solidFill>
                  <a:srgbClr val="C0392B"/>
                </a:solidFill>
                <a:latin typeface="Calibri"/>
              </a:rPr>
              <a:t>All three apps must NOT be held by the same user without compensating control.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18 / 39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108960"/>
            <a:ext cx="12191695" cy="73152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800" b="1">
                <a:solidFill>
                  <a:srgbClr val="1E3A5F"/>
                </a:solidFill>
                <a:latin typeface="Calibri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32720" cy="12801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Workflow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19 / 39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Workflow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Goal → Execute → Memo, with hooks enforcing quality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365760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91440" cy="237744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329184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000" b="1">
                <a:solidFill>
                  <a:srgbClr val="2E86C1"/>
                </a:solidFill>
                <a:latin typeface="Calibri"/>
              </a:rPr>
              <a:t>/goal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3291840" cy="7772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Decompose a high-level objective into a step-by-step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880360"/>
            <a:ext cx="32918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>
                <a:solidFill>
                  <a:srgbClr val="666666"/>
                </a:solidFill>
                <a:latin typeface="Calibri"/>
              </a:rPr>
              <a:t>Example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108960"/>
            <a:ext cx="3291840" cy="6858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Validate all apps in SAP_TC_FIN_TRM_COMMON for FOE/BOE compliance and propose a split.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61688" y="1463040"/>
            <a:ext cx="365760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61688" y="1463040"/>
            <a:ext cx="91440" cy="237744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90288" y="1600200"/>
            <a:ext cx="329184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000" b="1">
                <a:solidFill>
                  <a:srgbClr val="E67E22"/>
                </a:solidFill>
                <a:latin typeface="Calibri"/>
              </a:rPr>
              <a:t>/execute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2103120"/>
            <a:ext cx="3291840" cy="7772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Run the plan autonomously, chain queries, adapt to findings.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0288" y="2880360"/>
            <a:ext cx="32918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>
                <a:solidFill>
                  <a:srgbClr val="666666"/>
                </a:solidFill>
                <a:latin typeface="Calibri"/>
              </a:rPr>
              <a:t>Example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0288" y="3108960"/>
            <a:ext cx="3291840" cy="6858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Produces a structured Goal / Summary / Findings / Violations / Recommendations report.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66176" y="1463040"/>
            <a:ext cx="365760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266176" y="1463040"/>
            <a:ext cx="91440" cy="2377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494776" y="1600200"/>
            <a:ext cx="329184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000" b="1">
                <a:solidFill>
                  <a:srgbClr val="27AE60"/>
                </a:solidFill>
                <a:latin typeface="Calibri"/>
              </a:rPr>
              <a:t>/memo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94776" y="2103120"/>
            <a:ext cx="3291840" cy="7772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Save and resume investigations across sessions.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94776" y="2880360"/>
            <a:ext cx="32918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1">
                <a:solidFill>
                  <a:srgbClr val="666666"/>
                </a:solidFill>
                <a:latin typeface="Calibri"/>
              </a:rPr>
              <a:t>Example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94776" y="3108960"/>
            <a:ext cx="3291840" cy="6858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Findings, decisions, work-in-progress, known-good baselines preserved as markdown.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06908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1">
                <a:solidFill>
                  <a:srgbClr val="1E3A5F"/>
                </a:solidFill>
                <a:latin typeface="Calibri"/>
              </a:rPr>
              <a:t>Quality hooks  ·  enforced automatically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57200" y="4434840"/>
          <a:ext cx="11247120" cy="16954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Hook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Trigger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Effect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validate-memo.sh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PreToolUse / Write to .claude/memo/*.md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Blocks writes if any of the 4 required sections is missing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sync-skills.sh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PostToolUse / Write to .claude/skills/*.md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Auto-syncs skill to skills/ and .claude/commands/ — prevents drift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91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log-query.sh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PostToolUse / mcp__er6__query_sql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Appends every ER6 query with timestamp to .session-log.md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20 / 39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/execute  ·  Structured Output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Every autonomous run produces the same five sections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2011680" cy="77724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600200"/>
            <a:ext cx="2011680" cy="5943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Goal</a:t>
            </a:r>
          </a:p>
        </p:txBody>
      </p:sp>
      <p:sp>
        <p:nvSpPr>
          <p:cNvPr id="8" name="Rectangle 7"/>
          <p:cNvSpPr/>
          <p:nvPr/>
        </p:nvSpPr>
        <p:spPr>
          <a:xfrm>
            <a:off x="2468880" y="1508760"/>
            <a:ext cx="932688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606040" y="1600200"/>
            <a:ext cx="9052560" cy="5943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Restate the original objective verbatim — what success looks like.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468880"/>
            <a:ext cx="2011680" cy="77724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2560320"/>
            <a:ext cx="2011680" cy="5943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Summary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68880" y="2468880"/>
            <a:ext cx="932688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606040" y="2560320"/>
            <a:ext cx="9052560" cy="5943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One-paragraph executive summary  ·  scope, what was checked, headline verdict.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429000"/>
            <a:ext cx="2011680" cy="77724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5760" y="3520440"/>
            <a:ext cx="2011680" cy="5943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Findings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68880" y="3429000"/>
            <a:ext cx="932688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606040" y="3520440"/>
            <a:ext cx="9052560" cy="5943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Numbered list of facts: app/auth-object/value combinations actually present in ER6.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389120"/>
            <a:ext cx="2011680" cy="777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65760" y="4480560"/>
            <a:ext cx="2011680" cy="5943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Violations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68880" y="4389120"/>
            <a:ext cx="932688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606040" y="4480560"/>
            <a:ext cx="9052560" cy="5943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Subset of findings that breach a rule  ·  cite the rule and the specific value.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349240"/>
            <a:ext cx="2011680" cy="7772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65760" y="5440679"/>
            <a:ext cx="2011680" cy="5943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Recommendations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68880" y="5349240"/>
            <a:ext cx="932688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606040" y="5440679"/>
            <a:ext cx="9052560" cy="5943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Concrete next actions  ·  catalog split, value removal, BRT realignment.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355080"/>
            <a:ext cx="114300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Every claim is backed by the queries logged to .session-log.md  →  fully reproducible audit trail.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21 / 39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/memo  ·  Persistent Investigation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Findings survive across sessions and analysts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Sub-commands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828800"/>
          <a:ext cx="54864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Command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/memo save [topic]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Save current session findings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/memo update [topic]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Append new findings to existing memo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/memo load [topic]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Reload a memo and offer to resume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/memo list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Show all memos from INDEX.md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/memo clear &lt;topic&gt;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Delete a memo (asks for confirmation)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38912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Every memo  ·  4 required sections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800600"/>
            <a:ext cx="5486400" cy="1554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2E86C1"/>
                </a:solidFill>
                <a:latin typeface="Calibri"/>
              </a:rPr>
              <a:t>▸  </a:t>
            </a:r>
            <a:r>
              <a:rPr sz="1100" b="1">
                <a:solidFill>
                  <a:srgbClr val="1E3A5F"/>
                </a:solidFill>
                <a:latin typeface="Calibri"/>
              </a:rPr>
              <a:t>## Findings</a:t>
            </a:r>
            <a:r>
              <a:rPr sz="1100">
                <a:solidFill>
                  <a:srgbClr val="333333"/>
                </a:solidFill>
                <a:latin typeface="Calibri"/>
              </a:rPr>
              <a:t>  Facts established this session.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2E86C1"/>
                </a:solidFill>
                <a:latin typeface="Calibri"/>
              </a:rPr>
              <a:t>▸  </a:t>
            </a:r>
            <a:r>
              <a:rPr sz="1100" b="1">
                <a:solidFill>
                  <a:srgbClr val="1E3A5F"/>
                </a:solidFill>
                <a:latin typeface="Calibri"/>
              </a:rPr>
              <a:t>## Decisions</a:t>
            </a:r>
            <a:r>
              <a:rPr sz="1100">
                <a:solidFill>
                  <a:srgbClr val="333333"/>
                </a:solidFill>
                <a:latin typeface="Calibri"/>
              </a:rPr>
              <a:t>  Choices made and the why.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2E86C1"/>
                </a:solidFill>
                <a:latin typeface="Calibri"/>
              </a:rPr>
              <a:t>▸  </a:t>
            </a:r>
            <a:r>
              <a:rPr sz="1100" b="1">
                <a:solidFill>
                  <a:srgbClr val="1E3A5F"/>
                </a:solidFill>
                <a:latin typeface="Calibri"/>
              </a:rPr>
              <a:t>## Work in Progress</a:t>
            </a:r>
            <a:r>
              <a:rPr sz="1100">
                <a:solidFill>
                  <a:srgbClr val="333333"/>
                </a:solidFill>
                <a:latin typeface="Calibri"/>
              </a:rPr>
              <a:t>  Open threads, next steps.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2E86C1"/>
                </a:solidFill>
                <a:latin typeface="Calibri"/>
              </a:rPr>
              <a:t>▸  </a:t>
            </a:r>
            <a:r>
              <a:rPr sz="1100" b="1">
                <a:solidFill>
                  <a:srgbClr val="1E3A5F"/>
                </a:solidFill>
                <a:latin typeface="Calibri"/>
              </a:rPr>
              <a:t>## Known Good Baselines</a:t>
            </a:r>
            <a:r>
              <a:rPr sz="1100">
                <a:solidFill>
                  <a:srgbClr val="333333"/>
                </a:solidFill>
                <a:latin typeface="Calibri"/>
              </a:rPr>
              <a:t>  What is verified-correct.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41732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Auto-surfacing on session start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828800"/>
            <a:ext cx="548640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0" y="1965960"/>
            <a:ext cx="5212080" cy="1554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Found in-progress memo:
    trm-catalog-split
Last updated 2026-05-10.
Load it to resume?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384048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End-to-end workflow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4251960"/>
            <a:ext cx="5486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>
                <a:solidFill>
                  <a:srgbClr val="333333"/>
                </a:solidFill>
                <a:latin typeface="Consolas"/>
              </a:rPr>
              <a:t>/goal Validate FOE/BOE for CLOUD_FI_TR_IAM</a:t>
            </a:r>
          </a:p>
          <a:p>
            <a:pPr>
              <a:lnSpc>
                <a:spcPct val="115000"/>
              </a:lnSpc>
            </a:pPr>
            <a:r>
              <a:rPr sz="1100">
                <a:solidFill>
                  <a:srgbClr val="333333"/>
                </a:solidFill>
                <a:latin typeface="Consolas"/>
              </a:rPr>
              <a:t>    ↓</a:t>
            </a:r>
          </a:p>
          <a:p>
            <a:pPr>
              <a:lnSpc>
                <a:spcPct val="115000"/>
              </a:lnSpc>
            </a:pPr>
            <a:r>
              <a:rPr sz="1100">
                <a:solidFill>
                  <a:srgbClr val="333333"/>
                </a:solidFill>
                <a:latin typeface="Consolas"/>
              </a:rPr>
              <a:t>/execute  →  produces report</a:t>
            </a:r>
          </a:p>
          <a:p>
            <a:pPr>
              <a:lnSpc>
                <a:spcPct val="115000"/>
              </a:lnSpc>
            </a:pPr>
            <a:r>
              <a:rPr sz="1100">
                <a:solidFill>
                  <a:srgbClr val="333333"/>
                </a:solidFill>
                <a:latin typeface="Consolas"/>
              </a:rPr>
              <a:t>    ↓</a:t>
            </a:r>
          </a:p>
          <a:p>
            <a:pPr>
              <a:lnSpc>
                <a:spcPct val="115000"/>
              </a:lnSpc>
            </a:pPr>
            <a:r>
              <a:rPr sz="1100">
                <a:solidFill>
                  <a:srgbClr val="333333"/>
                </a:solidFill>
                <a:latin typeface="Consolas"/>
              </a:rPr>
              <a:t>/memo save trm-cloud-foe-boe</a:t>
            </a:r>
          </a:p>
          <a:p>
            <a:pPr>
              <a:lnSpc>
                <a:spcPct val="115000"/>
              </a:lnSpc>
            </a:pPr>
            <a:r>
              <a:rPr sz="1100">
                <a:solidFill>
                  <a:srgbClr val="333333"/>
                </a:solidFill>
                <a:latin typeface="Consolas"/>
              </a:rPr>
              <a:t>    ↓ (next session)</a:t>
            </a:r>
          </a:p>
          <a:p>
            <a:pPr>
              <a:lnSpc>
                <a:spcPct val="115000"/>
              </a:lnSpc>
            </a:pPr>
            <a:r>
              <a:rPr sz="1100">
                <a:solidFill>
                  <a:srgbClr val="333333"/>
                </a:solidFill>
                <a:latin typeface="Consolas"/>
              </a:rPr>
              <a:t>/memo load trm-cloud-foe-boe  →  resume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22 / 39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Quality Hooks  · 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Three bash hooks that run silently every session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3749039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463040"/>
            <a:ext cx="3749039" cy="6400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600200"/>
            <a:ext cx="3474719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validate-memo.sh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057400"/>
            <a:ext cx="3474719" cy="3886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Phase: PreToolUse / Write
Match: .claude/memo/*.md
What it does
  •  Reads the proposed file content
  •  Greps for the 4 required sections
  •  Exits non-zero if any are missing
  •  Reports which sections were missing
Why it matters
  Prevents shallow / abandoned memos
  Enforces uniform structure across
  every investigation.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1463040"/>
            <a:ext cx="3749039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51960" y="1463040"/>
            <a:ext cx="3749039" cy="64008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89120" y="1600200"/>
            <a:ext cx="3474719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sync-skills.sh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057400"/>
            <a:ext cx="3474719" cy="3886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Phase: PostToolUse / Write
Match: .claude/skills/*.md
What it does
  •  Copies edited skill to skills/
    (with frontmatter)
  •  Copies it to .claude/commands/
    (frontmatter stripped)
  •  Three locations stay identical
Why it matters
  Skills are the source of domain truth.
  Drift between copies = silent
  inconsistency in answers.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146304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38160" y="1463040"/>
            <a:ext cx="3657600" cy="64008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75320" y="1600200"/>
            <a:ext cx="33832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log-query.sh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2057400"/>
            <a:ext cx="3383280" cy="3886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Phase: PostToolUse / query_sql
Match: mcp__er6__query_sql
What it does
  •  Captures every SQL run
  •  Appends to .session-log.md async
  •  Records timestamp + row limit
Why it matters
  Reproducibility  ·  every claim ties
  back to the exact query that
  produced it.
  Audit trail — who asked what when.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23 / 39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108960"/>
            <a:ext cx="12191695" cy="73152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800" b="1">
                <a:solidFill>
                  <a:srgbClr val="2E86C1"/>
                </a:solidFill>
                <a:latin typeface="Calibri"/>
              </a:rPr>
              <a:t>PART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32720" cy="12801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Examples and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24 / 39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Example  ·  Treasury SoD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From one English question to a validated answer in ~60 seconds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>
                <a:solidFill>
                  <a:srgbClr val="2E86C1"/>
                </a:solidFill>
                <a:latin typeface="Calibri"/>
              </a:rPr>
              <a:t>1.  User asks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54864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874519"/>
            <a:ext cx="5212080" cy="7772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/treasury-iam
For app FTRCAI02_B_TRAN, validate whether it is compliant with BOE SoD rules.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3464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>
                <a:solidFill>
                  <a:srgbClr val="2E86C1"/>
                </a:solidFill>
                <a:latin typeface="Calibri"/>
              </a:rPr>
              <a:t>2.  Assistant runs (autonomously)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00400"/>
            <a:ext cx="54864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E86C1"/>
                </a:solidFill>
                <a:latin typeface="Calibri"/>
              </a:rPr>
              <a:t>1.  </a:t>
            </a:r>
            <a:r>
              <a:rPr sz="1300">
                <a:solidFill>
                  <a:srgbClr val="333333"/>
                </a:solidFill>
                <a:latin typeface="Calibri"/>
              </a:rPr>
              <a:t>Look up app in APS_IAM_W_APP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E86C1"/>
                </a:solidFill>
                <a:latin typeface="Calibri"/>
              </a:rPr>
              <a:t>2.  </a:t>
            </a:r>
            <a:r>
              <a:rPr sz="1300">
                <a:solidFill>
                  <a:srgbClr val="333333"/>
                </a:solidFill>
                <a:latin typeface="Calibri"/>
              </a:rPr>
              <a:t>Find catalog via APS_IAM_W_BC_APP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E86C1"/>
                </a:solidFill>
                <a:latin typeface="Calibri"/>
              </a:rPr>
              <a:t>3.  </a:t>
            </a:r>
            <a:r>
              <a:rPr sz="1300">
                <a:solidFill>
                  <a:srgbClr val="333333"/>
                </a:solidFill>
                <a:latin typeface="Calibri"/>
              </a:rPr>
              <a:t>Read auth instances from APPAUI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E86C1"/>
                </a:solidFill>
                <a:latin typeface="Calibri"/>
              </a:rPr>
              <a:t>4.  </a:t>
            </a:r>
            <a:r>
              <a:rPr sz="1300">
                <a:solidFill>
                  <a:srgbClr val="333333"/>
                </a:solidFill>
                <a:latin typeface="Calibri"/>
              </a:rPr>
              <a:t>Pull TRFCT × ACTVT values from APPAUV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E86C1"/>
                </a:solidFill>
                <a:latin typeface="Calibri"/>
              </a:rPr>
              <a:t>5.  </a:t>
            </a:r>
            <a:r>
              <a:rPr sz="1300">
                <a:solidFill>
                  <a:srgbClr val="333333"/>
                </a:solidFill>
                <a:latin typeface="Calibri"/>
              </a:rPr>
              <a:t>Check against BOE forbidden matrix (D2 × 01/02/16/85/KU/VF)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E86C1"/>
                </a:solidFill>
                <a:latin typeface="Calibri"/>
              </a:rPr>
              <a:t>6.  </a:t>
            </a:r>
            <a:r>
              <a:rPr sz="1300">
                <a:solidFill>
                  <a:srgbClr val="333333"/>
                </a:solidFill>
                <a:latin typeface="Calibri"/>
              </a:rPr>
              <a:t>Cross-check BRT linkage in APS_IAM_W_BRTBUC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41732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>
                <a:solidFill>
                  <a:srgbClr val="27AE60"/>
                </a:solidFill>
                <a:latin typeface="Calibri"/>
              </a:rPr>
              <a:t>3.  Result  ·  ~60 seconds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783080"/>
            <a:ext cx="5486400" cy="452628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63640" y="1783080"/>
            <a:ext cx="5486400" cy="73152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1920240"/>
            <a:ext cx="521208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1">
                <a:solidFill>
                  <a:srgbClr val="27AE60"/>
                </a:solidFill>
                <a:latin typeface="Calibri"/>
              </a:rPr>
              <a:t>Verdict  ·  COMPLIANT  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468880"/>
            <a:ext cx="2468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Calibri"/>
              </a:rPr>
              <a:t>Catalog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2468880"/>
            <a:ext cx="2834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SAP_FIN_BC_TRM_BACK_OFFICE_PC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926080"/>
            <a:ext cx="2468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Calibri"/>
              </a:rPr>
              <a:t>BRT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0" y="2926080"/>
            <a:ext cx="2834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SAP_BR_TREASURY_SPECIALIST_BOE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383280"/>
            <a:ext cx="2468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Calibri"/>
              </a:rPr>
              <a:t>Auth objects active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3383280"/>
            <a:ext cx="2834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T_DEAL_PD, T_DEAL_PF, T_DEAL_DP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840480"/>
            <a:ext cx="2468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Calibri"/>
              </a:rPr>
              <a:t>TRFCT values held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0" y="3840480"/>
            <a:ext cx="2834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D3 (Settlement only)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297680"/>
            <a:ext cx="2468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Calibri"/>
              </a:rPr>
              <a:t>ACTVT values held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0" y="4297680"/>
            <a:ext cx="2834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01, 02, 03, 16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754880"/>
            <a:ext cx="2468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Calibri"/>
              </a:rPr>
              <a:t>Forbidden combo D2 × 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4754880"/>
            <a:ext cx="2834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Not present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212080"/>
            <a:ext cx="2468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Calibri"/>
              </a:rPr>
              <a:t>Forbidden combo D2 × 16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0" y="5212080"/>
            <a:ext cx="2834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Not present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669280"/>
            <a:ext cx="2468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Calibri"/>
              </a:rPr>
              <a:t>Cross-BRT exposure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69680" y="5669280"/>
            <a:ext cx="283464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None  (BOE only)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5943600"/>
            <a:ext cx="52120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All findings cite the exact ER6 queries that produced them (auditable).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25 / 39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Query Walk-through  ·  FTRCAI02_B_TRAN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The actual SQL Claude runs to validate one Treasury 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114300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2E86C1"/>
                </a:solidFill>
                <a:latin typeface="Calibri"/>
              </a:rPr>
              <a:t>Step 1  ·  Find catalog and BRT for the app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91640"/>
            <a:ext cx="11430000" cy="91440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764792"/>
            <a:ext cx="11247120" cy="768096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SELECT BU_CATALOG_ID, APP_ID FROM APS_IAM_W_BC_APP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WHERE APP_ID = 'FTRCAI02_B_TRAN'   -- rows: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697480"/>
            <a:ext cx="114300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2E86C1"/>
                </a:solidFill>
                <a:latin typeface="Calibri"/>
              </a:rPr>
              <a:t>Step 2  ·  Pull active auth-object instances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017520"/>
            <a:ext cx="11430000" cy="91440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3090672"/>
            <a:ext cx="11247120" cy="768096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SELECT UUID, AUTH_OBJECT FROM APS_IAM_W_APPAUI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WHERE APP_ID = 'FTRCAI02_B_TRAN' AND INACTIVE = ' '   -- rows: 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023360"/>
            <a:ext cx="114300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2E86C1"/>
                </a:solidFill>
                <a:latin typeface="Calibri"/>
              </a:rPr>
              <a:t>Step 3  ·  Pull TRFCT and ACTVT field values for those instances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4343400"/>
            <a:ext cx="11430000" cy="128016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4416552"/>
            <a:ext cx="11247120" cy="1133856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SELECT PARENT_ID, FIELD, LOW_VALUE, HIGH_VALUE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FROM APS_IAM_W_APPAUV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WHERE APP_ID = 'FTRCAI02_B_TRAN'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AND FIELD IN ('TRFCT', 'ACTVT')   -- rows: 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715000"/>
            <a:ext cx="114300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27AE60"/>
                </a:solidFill>
                <a:latin typeface="Calibri"/>
              </a:rPr>
              <a:t>Step 4  ·  Cross-check held (TRFCT, ACTVT) pairs against the BOE forbidden matrix in memory.  ✓ COMPLIANT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26 / 39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Use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What you can ask — by domain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3040"/>
          <a:ext cx="1124712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848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Domain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Question you can ask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the assistant does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848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Treasury — FOE/BOE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Validate FTRCAI02_B_TRAN against BOE SoD rules.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Reads APP / catalog / APPAUI / APPAUV; checks D3 forbidden combos; reports verdict.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48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Treasury — split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Catalog SAP_TC_FIN_TRM_COMMON has both D2+01 and D3+01. Propose a split.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Identifies offending apps; groups by office; produces FOE / BOE catalog plan.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848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Treasury — hedge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Validate T_TOE_HR for SAP_FIN_BC_TRM_HM_HR_FOE_PC.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Pulls HREQ_CAT × ACTVT; checks MOE-forbidden release/reverse on A and 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848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Cash — four-eyes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Does SAP_BR_CASH_MANAGER violate four-eyes between submit and approve?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Maps BRT → catalogs; cross-checks F_CLM_BAOR ACTVT 31 vs submit catalog.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848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Cash — health check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Run a full health check on F9017_TRAN.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Lists active auth objects, ACTVT values, catalog assignments, BRT coverage.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848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Finance — AP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Trace AP payment flow F0770 → F0771 → F0673A and confirm SoD.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Walks F_BKPF_* and F_LFA1_* across propose / revise / approve.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848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Finance — GL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GL journal entry: post / park / verify — confirm posting controls.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Maps F_BKPF_BUK / BLA / KOA across the three apps.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3848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Cross-cutting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Find all Treasury apps holding D2 and D3 on T_DEAL_PD.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APPAUV scan filtered by TRFCT, joined back to APP and catalog.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27 / 39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Web UI  ·  Stack and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Browser chat for the rest of the team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Stack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828800"/>
          <a:ext cx="54864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Technology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Web framework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FastAPI + Uvicorn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LLM streaming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Anthropic SDK · SSE · Claude Opus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MCP tools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Subprocess over stdio (er6_mcp_server.py)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Auth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OIDC (Authlib) · signed session cookie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Templates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Jinja2  ·  ui/templates/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Static assets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ui/static/  (CSS + JS, no bundler)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Markdown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marked + DOMPurify  ·  vendored locally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Theming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CSS variables · data-theme · Catppuccin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263640" y="141732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Features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828800"/>
            <a:ext cx="5486400" cy="4389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2E86C1"/>
                </a:solidFill>
                <a:latin typeface="Calibri"/>
              </a:rPr>
              <a:t>▸  </a:t>
            </a:r>
            <a:r>
              <a:rPr sz="1100" b="1">
                <a:solidFill>
                  <a:srgbClr val="1E3A5F"/>
                </a:solidFill>
                <a:latin typeface="Calibri"/>
              </a:rPr>
              <a:t>Streaming chat.</a:t>
            </a:r>
            <a:r>
              <a:rPr sz="1100">
                <a:solidFill>
                  <a:srgbClr val="333333"/>
                </a:solidFill>
                <a:latin typeface="Calibri"/>
              </a:rPr>
              <a:t>  Tokens render as they arrive; tool calls expand inline.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2E86C1"/>
                </a:solidFill>
                <a:latin typeface="Calibri"/>
              </a:rPr>
              <a:t>▸  </a:t>
            </a:r>
            <a:r>
              <a:rPr sz="1100" b="1">
                <a:solidFill>
                  <a:srgbClr val="1E3A5F"/>
                </a:solidFill>
                <a:latin typeface="Calibri"/>
              </a:rPr>
              <a:t>Theme toggle.</a:t>
            </a:r>
            <a:r>
              <a:rPr sz="1100">
                <a:solidFill>
                  <a:srgbClr val="333333"/>
                </a:solidFill>
                <a:latin typeface="Calibri"/>
              </a:rPr>
              <a:t>  Light = Catppuccin Latte · Dark = Mocha · persisted in localStorage.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2E86C1"/>
                </a:solidFill>
                <a:latin typeface="Calibri"/>
              </a:rPr>
              <a:t>▸  </a:t>
            </a:r>
            <a:r>
              <a:rPr sz="1100" b="1">
                <a:solidFill>
                  <a:srgbClr val="1E3A5F"/>
                </a:solidFill>
                <a:latin typeface="Calibri"/>
              </a:rPr>
              <a:t>No-flash theme.</a:t>
            </a:r>
            <a:r>
              <a:rPr sz="1100">
                <a:solidFill>
                  <a:srgbClr val="333333"/>
                </a:solidFill>
                <a:latin typeface="Calibri"/>
              </a:rPr>
              <a:t>  Inline &lt;head&gt; script applies saved theme before stylesheet.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2E86C1"/>
                </a:solidFill>
                <a:latin typeface="Calibri"/>
              </a:rPr>
              <a:t>▸  </a:t>
            </a:r>
            <a:r>
              <a:rPr sz="1100" b="1">
                <a:solidFill>
                  <a:srgbClr val="1E3A5F"/>
                </a:solidFill>
                <a:latin typeface="Calibri"/>
              </a:rPr>
              <a:t>Prompt template library.</a:t>
            </a:r>
            <a:r>
              <a:rPr sz="1100">
                <a:solidFill>
                  <a:srgbClr val="333333"/>
                </a:solidFill>
                <a:latin typeface="Calibri"/>
              </a:rPr>
              <a:t>  Categorised welcome screen with 30+ examples.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2E86C1"/>
                </a:solidFill>
                <a:latin typeface="Calibri"/>
              </a:rPr>
              <a:t>▸  </a:t>
            </a:r>
            <a:r>
              <a:rPr sz="1100" b="1">
                <a:solidFill>
                  <a:srgbClr val="1E3A5F"/>
                </a:solidFill>
                <a:latin typeface="Calibri"/>
              </a:rPr>
              <a:t>Session history.</a:t>
            </a:r>
            <a:r>
              <a:rPr sz="1100">
                <a:solidFill>
                  <a:srgbClr val="333333"/>
                </a:solidFill>
                <a:latin typeface="Calibri"/>
              </a:rPr>
              <a:t>  Multiple sessions per user with rename/delete.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2E86C1"/>
                </a:solidFill>
                <a:latin typeface="Calibri"/>
              </a:rPr>
              <a:t>▸  </a:t>
            </a:r>
            <a:r>
              <a:rPr sz="1100" b="1">
                <a:solidFill>
                  <a:srgbClr val="1E3A5F"/>
                </a:solidFill>
                <a:latin typeface="Calibri"/>
              </a:rPr>
              <a:t>OIDC + dev mode.</a:t>
            </a:r>
            <a:r>
              <a:rPr sz="1100">
                <a:solidFill>
                  <a:srgbClr val="333333"/>
                </a:solidFill>
                <a:latin typeface="Calibri"/>
              </a:rPr>
              <a:t>  Real OIDC in prod  ·  auto-login as 'dev' for local.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2E86C1"/>
                </a:solidFill>
                <a:latin typeface="Calibri"/>
              </a:rPr>
              <a:t>▸  </a:t>
            </a:r>
            <a:r>
              <a:rPr sz="1100" b="1">
                <a:solidFill>
                  <a:srgbClr val="1E3A5F"/>
                </a:solidFill>
                <a:latin typeface="Calibri"/>
              </a:rPr>
              <a:t>Tool call transparency.</a:t>
            </a:r>
            <a:r>
              <a:rPr sz="1100">
                <a:solidFill>
                  <a:srgbClr val="333333"/>
                </a:solidFill>
                <a:latin typeface="Calibri"/>
              </a:rPr>
              <a:t>  Every MCP call is shown — table, params, result rows.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2E86C1"/>
                </a:solidFill>
                <a:latin typeface="Calibri"/>
              </a:rPr>
              <a:t>▸  </a:t>
            </a:r>
            <a:r>
              <a:rPr sz="1100" b="1">
                <a:solidFill>
                  <a:srgbClr val="1E3A5F"/>
                </a:solidFill>
                <a:latin typeface="Calibri"/>
              </a:rPr>
              <a:t>Vendored libs.</a:t>
            </a:r>
            <a:r>
              <a:rPr sz="1100">
                <a:solidFill>
                  <a:srgbClr val="333333"/>
                </a:solidFill>
                <a:latin typeface="Calibri"/>
              </a:rPr>
              <a:t>  marked + DOMPurify shipped locally — zero CDN dependency.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28 / 39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Prompt Template Library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Categorised welcome-screen examples to bootstrap analysts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417320"/>
          <a:ext cx="1143000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15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Template Examples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Getting Started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What can I ask?  ·  Glossary BRT/BC/App  ·  What is SoD?  ·  How do roles work?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General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App → Catalog mapping  ·  Restriction type coverage  ·  BRT catalog tree  ·  Auth object usage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Finance — 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App auth analysis  ·  AP payment flow SoD  ·  Vendor master access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Finance — AR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AR clearing &amp; incoming payment  ·  AR dunning SoD check  ·  Customer master access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Finance — GL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GL posting controls  ·  Activity set check  ·  Document type access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Finance — BA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Bank statement health check  ·  Reconciliation auth review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Treasury and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FOE/BOE SoD validation  ·  Catalog split analysis  ·  Hedge request SoD  ·  BRT footprint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Cash Management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Activity set completeness  ·  Submit/Approve SoD  ·  Four-eyes catalog check  ·  IAM health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29 / 39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Performance  ·  Measured Against Live ER6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Validated 2026-05-15 · 20 tests · 100% pass rate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Round-trip latency by tool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828800"/>
          <a:ext cx="5486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Calls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Mean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Min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Max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query_sql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10,106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8,728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12,603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read_table_def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8,922 ms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8,650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9,193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list_package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17,322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263640" y="141732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Selected operations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828800"/>
          <a:ext cx="54864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Operation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Duration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TADIR · 20 SIA6 objects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12,603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list_package · 700+ objects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17,322 ms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APS_IAM_W_APP · 1 row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9,592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APS_IAM_W_APP · 20 LIKE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10,732 ms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APPAUI · 5–15 rows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9,129–10,082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APPAUV · 21–50 rows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9,567–12,001 ms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BC_APP · 1 row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9,343–11,053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BRTBUC · 29–39 rows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9,131–11,223 ms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read_table_def (DDL only)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33333"/>
                          </a:solidFill>
                          <a:latin typeface="Calibri"/>
                        </a:rPr>
                        <a:t>8,650–9,193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384048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What this means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4206240"/>
            <a:ext cx="5486400" cy="2194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2E86C1"/>
                </a:solidFill>
                <a:latin typeface="Calibri"/>
              </a:rPr>
              <a:t>▸  </a:t>
            </a:r>
            <a:r>
              <a:rPr sz="1100" b="1">
                <a:solidFill>
                  <a:srgbClr val="1E3A5F"/>
                </a:solidFill>
                <a:latin typeface="Calibri"/>
              </a:rPr>
              <a:t>Typical investigation:</a:t>
            </a:r>
            <a:r>
              <a:rPr sz="1100">
                <a:solidFill>
                  <a:srgbClr val="333333"/>
                </a:solidFill>
                <a:latin typeface="Calibri"/>
              </a:rPr>
              <a:t>  5–8 queries  ≈  50–90 s ER6 round-trip.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2E86C1"/>
                </a:solidFill>
                <a:latin typeface="Calibri"/>
              </a:rPr>
              <a:t>▸  </a:t>
            </a:r>
            <a:r>
              <a:rPr sz="1100" b="1">
                <a:solidFill>
                  <a:srgbClr val="1E3A5F"/>
                </a:solidFill>
                <a:latin typeface="Calibri"/>
              </a:rPr>
              <a:t>list_package is slowest.</a:t>
            </a:r>
            <a:r>
              <a:rPr sz="1100">
                <a:solidFill>
                  <a:srgbClr val="333333"/>
                </a:solidFill>
                <a:latin typeface="Calibri"/>
              </a:rPr>
              <a:t>  Avoid on 700+ object packages unless needed.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2E86C1"/>
                </a:solidFill>
                <a:latin typeface="Calibri"/>
              </a:rPr>
              <a:t>▸  </a:t>
            </a:r>
            <a:r>
              <a:rPr sz="1100" b="1">
                <a:solidFill>
                  <a:srgbClr val="1E3A5F"/>
                </a:solidFill>
                <a:latin typeface="Calibri"/>
              </a:rPr>
              <a:t>read_table_def is fastest.</a:t>
            </a:r>
            <a:r>
              <a:rPr sz="1100">
                <a:solidFill>
                  <a:srgbClr val="333333"/>
                </a:solidFill>
                <a:latin typeface="Calibri"/>
              </a:rPr>
              <a:t>  DDL only, no table scan.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2E86C1"/>
                </a:solidFill>
                <a:latin typeface="Calibri"/>
              </a:rPr>
              <a:t>▸  </a:t>
            </a:r>
            <a:r>
              <a:rPr sz="1100" b="1">
                <a:solidFill>
                  <a:srgbClr val="1E3A5F"/>
                </a:solidFill>
                <a:latin typeface="Calibri"/>
              </a:rPr>
              <a:t>Row count has modest impact.</a:t>
            </a:r>
            <a:r>
              <a:rPr sz="1100">
                <a:solidFill>
                  <a:srgbClr val="333333"/>
                </a:solidFill>
                <a:latin typeface="Calibri"/>
              </a:rPr>
              <a:t>  50 rows ≈ 2.5 s slower than 1 row.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2E86C1"/>
                </a:solidFill>
                <a:latin typeface="Calibri"/>
              </a:rPr>
              <a:t>▸  </a:t>
            </a:r>
            <a:r>
              <a:rPr sz="1100" b="1">
                <a:solidFill>
                  <a:srgbClr val="1E3A5F"/>
                </a:solidFill>
                <a:latin typeface="Calibri"/>
              </a:rPr>
              <a:t>Server-side cache:</a:t>
            </a:r>
            <a:r>
              <a:rPr sz="1100">
                <a:solidFill>
                  <a:srgbClr val="333333"/>
                </a:solidFill>
                <a:latin typeface="Calibri"/>
              </a:rPr>
              <a:t>  Repeat queries run ~19% faster (11.2s → 9.1s).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30 / 39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Security &amp;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Read-only by construction · auditable by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2377440" cy="9144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508760"/>
            <a:ext cx="2377440" cy="7315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Read-only access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40" y="1417320"/>
            <a:ext cx="89611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971800" y="1490472"/>
            <a:ext cx="8732520" cy="7772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All ER6 access goes through the ANZEIGER user — display privileges only. No SAP authorization to write, delete, or release transports. Tool can run during business hours without change-control concerns.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377440"/>
            <a:ext cx="2377440" cy="9144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2468880"/>
            <a:ext cx="2377440" cy="7315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Encrypted transport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34640" y="2377440"/>
            <a:ext cx="89611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971800" y="2736107"/>
            <a:ext cx="8732520" cy="20621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 dirty="0">
                <a:solidFill>
                  <a:srgbClr val="333333"/>
                </a:solidFill>
                <a:latin typeface="Calibri"/>
              </a:rPr>
              <a:t>SSL between MCP server and ER6 (</a:t>
            </a:r>
            <a:r>
              <a:rPr sz="1100" b="0" dirty="0" err="1">
                <a:solidFill>
                  <a:srgbClr val="333333"/>
                </a:solidFill>
                <a:latin typeface="Calibri"/>
              </a:rPr>
              <a:t>sapcli</a:t>
            </a:r>
            <a:r>
              <a:rPr sz="1100" b="0" dirty="0">
                <a:solidFill>
                  <a:srgbClr val="333333"/>
                </a:solidFill>
                <a:latin typeface="Calibri"/>
              </a:rPr>
              <a:t> config). Anthropic traffic over TLS. Session cookies signed with SESSION_SECRET.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337560"/>
            <a:ext cx="2377440" cy="91440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5760" y="3429000"/>
            <a:ext cx="2377440" cy="7315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Authentication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34640" y="3337560"/>
            <a:ext cx="89611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971800" y="3611588"/>
            <a:ext cx="8732520" cy="375487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 dirty="0">
                <a:solidFill>
                  <a:srgbClr val="333333"/>
                </a:solidFill>
                <a:latin typeface="Calibri"/>
              </a:rPr>
              <a:t>Web UI uses OIDC (</a:t>
            </a:r>
            <a:r>
              <a:rPr sz="1100" b="0" dirty="0" err="1">
                <a:solidFill>
                  <a:srgbClr val="333333"/>
                </a:solidFill>
                <a:latin typeface="Calibri"/>
              </a:rPr>
              <a:t>Authlib</a:t>
            </a:r>
            <a:r>
              <a:rPr sz="1100" b="0" dirty="0">
                <a:solidFill>
                  <a:srgbClr val="333333"/>
                </a:solidFill>
                <a:latin typeface="Calibri"/>
              </a:rPr>
              <a:t>). Each user authenticates with their corporate IdP; session cookie binds queries to a user identity. </a:t>
            </a:r>
            <a:r>
              <a:rPr sz="1100" b="0" dirty="0">
                <a:solidFill>
                  <a:srgbClr val="FF0000"/>
                </a:solidFill>
                <a:latin typeface="Calibri"/>
              </a:rPr>
              <a:t>Dev mode (auto-login as 'dev') is explicitly opt-in via OIDC_CLIENT_ID placeholder.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297680"/>
            <a:ext cx="2377440" cy="9144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65760" y="4389120"/>
            <a:ext cx="2377440" cy="7315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Audit trail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34640" y="4297680"/>
            <a:ext cx="89611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971800" y="4370832"/>
            <a:ext cx="8732520" cy="7772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 dirty="0">
                <a:solidFill>
                  <a:srgbClr val="333333"/>
                </a:solidFill>
                <a:latin typeface="Calibri"/>
              </a:rPr>
              <a:t>Every ER6 SQL query is appended to .session-</a:t>
            </a:r>
            <a:r>
              <a:rPr sz="1100" b="0" dirty="0" err="1">
                <a:solidFill>
                  <a:srgbClr val="333333"/>
                </a:solidFill>
                <a:latin typeface="Calibri"/>
              </a:rPr>
              <a:t>log.md</a:t>
            </a:r>
            <a:r>
              <a:rPr sz="1100" b="0" dirty="0">
                <a:solidFill>
                  <a:srgbClr val="333333"/>
                </a:solidFill>
                <a:latin typeface="Calibri"/>
              </a:rPr>
              <a:t> with a timestamp by the log-query hook. Memo files preserve findings per investigation. All answers cite the queries that produced them.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257800"/>
            <a:ext cx="2377440" cy="9144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65760" y="5349240"/>
            <a:ext cx="2377440" cy="7315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 data egress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34640" y="5257800"/>
            <a:ext cx="89611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971800" y="5330952"/>
            <a:ext cx="8732520" cy="7772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Only the LLM provider receives the question, the queries Claude composes, and the row data needed to answer. No bulk dumps; row limits are explicit. All data stays on ER6 except what Claude needs to reason about a question.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31 / 39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108960"/>
            <a:ext cx="12191695" cy="73152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800" b="1">
                <a:solidFill>
                  <a:srgbClr val="E67E22"/>
                </a:solidFill>
                <a:latin typeface="Calibri"/>
              </a:rPr>
              <a:t>PART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32720" cy="12801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32 / 39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Benefits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Concrete, measured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269748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463040"/>
            <a:ext cx="73152" cy="155448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600200"/>
            <a:ext cx="2697480" cy="7772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4400" b="1">
                <a:solidFill>
                  <a:srgbClr val="2E86C1"/>
                </a:solidFill>
                <a:latin typeface="Calibri"/>
              </a:rPr>
              <a:t>50–90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423160"/>
            <a:ext cx="2697480" cy="5943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Calibri"/>
              </a:rPr>
              <a:t>Typical 5–8 query investigation
round-trip time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1463040"/>
            <a:ext cx="269748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383280" y="1463040"/>
            <a:ext cx="73152" cy="155448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83280" y="1600200"/>
            <a:ext cx="2697480" cy="7772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4400" b="1">
                <a:solidFill>
                  <a:srgbClr val="27AE60"/>
                </a:solidFill>
                <a:latin typeface="Calibri"/>
              </a:rPr>
              <a:t>100 %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423160"/>
            <a:ext cx="2697480" cy="5943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Calibri"/>
              </a:rPr>
              <a:t>Pass rate on validated
query patterns (20 tests)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463040"/>
            <a:ext cx="269748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63640" y="1463040"/>
            <a:ext cx="73152" cy="155448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63640" y="1600200"/>
            <a:ext cx="2697480" cy="7772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4400" b="1">
                <a:solidFill>
                  <a:srgbClr val="E67E22"/>
                </a:solidFill>
                <a:latin typeface="Calibri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423160"/>
            <a:ext cx="2697480" cy="5943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Calibri"/>
              </a:rPr>
              <a:t>Risk to live data
(read-only ANZEIGER user)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0" y="1463040"/>
            <a:ext cx="269748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144000" y="1463040"/>
            <a:ext cx="73152" cy="15544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44000" y="1600200"/>
            <a:ext cx="2697480" cy="7772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4400" b="1">
                <a:solidFill>
                  <a:srgbClr val="1E3A5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2423160"/>
            <a:ext cx="2697480" cy="5943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Calibri"/>
              </a:rPr>
              <a:t>Quality hooks running
automatically every session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24612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1">
                <a:solidFill>
                  <a:srgbClr val="1E3A5F"/>
                </a:solidFill>
                <a:latin typeface="Calibri"/>
              </a:rPr>
              <a:t>Why teams adopt 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657600"/>
            <a:ext cx="5577840" cy="2651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E86C1"/>
                </a:solidFill>
                <a:latin typeface="Calibri"/>
              </a:rPr>
              <a:t>▸  </a:t>
            </a:r>
            <a:r>
              <a:rPr sz="1200" b="1">
                <a:solidFill>
                  <a:srgbClr val="1E3A5F"/>
                </a:solidFill>
                <a:latin typeface="Calibri"/>
              </a:rPr>
              <a:t>Speed.</a:t>
            </a:r>
            <a:r>
              <a:rPr sz="1200">
                <a:solidFill>
                  <a:srgbClr val="333333"/>
                </a:solidFill>
                <a:latin typeface="Calibri"/>
              </a:rPr>
              <a:t>  Hours of SE16 navigation collapse to a single conversation.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E86C1"/>
                </a:solidFill>
                <a:latin typeface="Calibri"/>
              </a:rPr>
              <a:t>▸  </a:t>
            </a:r>
            <a:r>
              <a:rPr sz="1200" b="1">
                <a:solidFill>
                  <a:srgbClr val="1E3A5F"/>
                </a:solidFill>
                <a:latin typeface="Calibri"/>
              </a:rPr>
              <a:t>No SAP expertise required.</a:t>
            </a:r>
            <a:r>
              <a:rPr sz="1200">
                <a:solidFill>
                  <a:srgbClr val="333333"/>
                </a:solidFill>
                <a:latin typeface="Calibri"/>
              </a:rPr>
              <a:t>  Analysts ask in English; the assistant handles SQL and joins.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E86C1"/>
                </a:solidFill>
                <a:latin typeface="Calibri"/>
              </a:rPr>
              <a:t>▸  </a:t>
            </a:r>
            <a:r>
              <a:rPr sz="1200" b="1">
                <a:solidFill>
                  <a:srgbClr val="1E3A5F"/>
                </a:solidFill>
                <a:latin typeface="Calibri"/>
              </a:rPr>
              <a:t>Encoded SoD knowledge.</a:t>
            </a:r>
            <a:r>
              <a:rPr sz="1200">
                <a:solidFill>
                  <a:srgbClr val="333333"/>
                </a:solidFill>
                <a:latin typeface="Calibri"/>
              </a:rPr>
              <a:t>  FOE/BOE/MOE matrices, TRFCT semantics, country variants — all built in.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E86C1"/>
                </a:solidFill>
                <a:latin typeface="Calibri"/>
              </a:rPr>
              <a:t>▸  </a:t>
            </a:r>
            <a:r>
              <a:rPr sz="1200" b="1">
                <a:solidFill>
                  <a:srgbClr val="1E3A5F"/>
                </a:solidFill>
                <a:latin typeface="Calibri"/>
              </a:rPr>
              <a:t>Auditability.</a:t>
            </a:r>
            <a:r>
              <a:rPr sz="1200">
                <a:solidFill>
                  <a:srgbClr val="333333"/>
                </a:solidFill>
                <a:latin typeface="Calibri"/>
              </a:rPr>
              <a:t>  Every query is logged with timestamp; answers cite their queries.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E86C1"/>
                </a:solidFill>
                <a:latin typeface="Calibri"/>
              </a:rPr>
              <a:t>▸  </a:t>
            </a:r>
            <a:r>
              <a:rPr sz="1200" b="1">
                <a:solidFill>
                  <a:srgbClr val="1E3A5F"/>
                </a:solidFill>
                <a:latin typeface="Calibri"/>
              </a:rPr>
              <a:t>Read-only by construction.</a:t>
            </a:r>
            <a:r>
              <a:rPr sz="1200">
                <a:solidFill>
                  <a:srgbClr val="333333"/>
                </a:solidFill>
                <a:latin typeface="Calibri"/>
              </a:rPr>
              <a:t>  ANZEIGER user, SSL — safe to use during operations.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3657600"/>
            <a:ext cx="5577840" cy="2651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7AE60"/>
                </a:solidFill>
                <a:latin typeface="Calibri"/>
              </a:rPr>
              <a:t>▸  </a:t>
            </a:r>
            <a:r>
              <a:rPr sz="1200" b="1">
                <a:solidFill>
                  <a:srgbClr val="1E3A5F"/>
                </a:solidFill>
                <a:latin typeface="Calibri"/>
              </a:rPr>
              <a:t>Persistent memory.</a:t>
            </a:r>
            <a:r>
              <a:rPr sz="1200">
                <a:solidFill>
                  <a:srgbClr val="333333"/>
                </a:solidFill>
                <a:latin typeface="Calibri"/>
              </a:rPr>
              <a:t>  Multi-day investigations resume cleanly; no lost context.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7AE60"/>
                </a:solidFill>
                <a:latin typeface="Calibri"/>
              </a:rPr>
              <a:t>▸  </a:t>
            </a:r>
            <a:r>
              <a:rPr sz="1200" b="1">
                <a:solidFill>
                  <a:srgbClr val="1E3A5F"/>
                </a:solidFill>
                <a:latin typeface="Calibri"/>
              </a:rPr>
              <a:t>Reusable skills.</a:t>
            </a:r>
            <a:r>
              <a:rPr sz="1200">
                <a:solidFill>
                  <a:srgbClr val="333333"/>
                </a:solidFill>
                <a:latin typeface="Calibri"/>
              </a:rPr>
              <a:t>  New analysts get full specialist context with /treasury-iam etc.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7AE60"/>
                </a:solidFill>
                <a:latin typeface="Calibri"/>
              </a:rPr>
              <a:t>▸  </a:t>
            </a:r>
            <a:r>
              <a:rPr sz="1200" b="1">
                <a:solidFill>
                  <a:srgbClr val="1E3A5F"/>
                </a:solidFill>
                <a:latin typeface="Calibri"/>
              </a:rPr>
              <a:t>Autonomous execution.</a:t>
            </a:r>
            <a:r>
              <a:rPr sz="1200">
                <a:solidFill>
                  <a:srgbClr val="333333"/>
                </a:solidFill>
                <a:latin typeface="Calibri"/>
              </a:rPr>
              <a:t>  /execute chains queries, adapts to findings, returns structured reports.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7AE60"/>
                </a:solidFill>
                <a:latin typeface="Calibri"/>
              </a:rPr>
              <a:t>▸  </a:t>
            </a:r>
            <a:r>
              <a:rPr sz="1200" b="1">
                <a:solidFill>
                  <a:srgbClr val="1E3A5F"/>
                </a:solidFill>
                <a:latin typeface="Calibri"/>
              </a:rPr>
              <a:t>Living documentation.</a:t>
            </a:r>
            <a:r>
              <a:rPr sz="1200">
                <a:solidFill>
                  <a:srgbClr val="333333"/>
                </a:solidFill>
                <a:latin typeface="Calibri"/>
              </a:rPr>
              <a:t>  Skill files and CLAUDE.md accumulate institutional knowledge.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7AE60"/>
                </a:solidFill>
                <a:latin typeface="Calibri"/>
              </a:rPr>
              <a:t>▸  </a:t>
            </a:r>
            <a:r>
              <a:rPr sz="1200" b="1">
                <a:solidFill>
                  <a:srgbClr val="1E3A5F"/>
                </a:solidFill>
                <a:latin typeface="Calibri"/>
              </a:rPr>
              <a:t>Two access paths.</a:t>
            </a:r>
            <a:r>
              <a:rPr sz="1200">
                <a:solidFill>
                  <a:srgbClr val="333333"/>
                </a:solidFill>
                <a:latin typeface="Calibri"/>
              </a:rPr>
              <a:t>  Power users use the CLI; the team uses the Web UI.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33 / 39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Lessons Learned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What we discovered building this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55778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Engineering takeaways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828800"/>
            <a:ext cx="5577840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E86C1"/>
                </a:solidFill>
                <a:latin typeface="Calibri"/>
              </a:rPr>
              <a:t>▸  </a:t>
            </a:r>
            <a:r>
              <a:rPr sz="1200" b="1">
                <a:solidFill>
                  <a:srgbClr val="1E3A5F"/>
                </a:solidFill>
                <a:latin typeface="Calibri"/>
              </a:rPr>
              <a:t>Skills &gt; prompts.</a:t>
            </a:r>
            <a:r>
              <a:rPr sz="1200">
                <a:solidFill>
                  <a:srgbClr val="333333"/>
                </a:solidFill>
                <a:latin typeface="Calibri"/>
              </a:rPr>
              <a:t>  Versioned skill files keep domain knowledge out of conversation history.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E86C1"/>
                </a:solidFill>
                <a:latin typeface="Calibri"/>
              </a:rPr>
              <a:t>▸  </a:t>
            </a:r>
            <a:r>
              <a:rPr sz="1200" b="1">
                <a:solidFill>
                  <a:srgbClr val="1E3A5F"/>
                </a:solidFill>
                <a:latin typeface="Calibri"/>
              </a:rPr>
              <a:t>Encode the gotchas.</a:t>
            </a:r>
            <a:r>
              <a:rPr sz="1200">
                <a:solidFill>
                  <a:srgbClr val="333333"/>
                </a:solidFill>
                <a:latin typeface="Calibri"/>
              </a:rPr>
              <a:t>  Every undocumented quirk (BUC unqueryable, GUID app IDs) goes into the skill.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E86C1"/>
                </a:solidFill>
                <a:latin typeface="Calibri"/>
              </a:rPr>
              <a:t>▸  </a:t>
            </a:r>
            <a:r>
              <a:rPr sz="1200" b="1">
                <a:solidFill>
                  <a:srgbClr val="1E3A5F"/>
                </a:solidFill>
                <a:latin typeface="Calibri"/>
              </a:rPr>
              <a:t>Validation matters.</a:t>
            </a:r>
            <a:r>
              <a:rPr sz="1200">
                <a:solidFill>
                  <a:srgbClr val="333333"/>
                </a:solidFill>
                <a:latin typeface="Calibri"/>
              </a:rPr>
              <a:t>  20 live-data tests caught query patterns that looked right but failed at runtime.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E86C1"/>
                </a:solidFill>
                <a:latin typeface="Calibri"/>
              </a:rPr>
              <a:t>▸  </a:t>
            </a:r>
            <a:r>
              <a:rPr sz="1200" b="1">
                <a:solidFill>
                  <a:srgbClr val="1E3A5F"/>
                </a:solidFill>
                <a:latin typeface="Calibri"/>
              </a:rPr>
              <a:t>Hooks are leverage.</a:t>
            </a:r>
            <a:r>
              <a:rPr sz="1200">
                <a:solidFill>
                  <a:srgbClr val="333333"/>
                </a:solidFill>
                <a:latin typeface="Calibri"/>
              </a:rPr>
              <a:t>  Three small bash scripts enforce more discipline than any policy doc.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417320"/>
            <a:ext cx="55778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Adoption takeaways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828800"/>
            <a:ext cx="5577840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7AE60"/>
                </a:solidFill>
                <a:latin typeface="Calibri"/>
              </a:rPr>
              <a:t>▸  </a:t>
            </a:r>
            <a:r>
              <a:rPr sz="1200" b="1">
                <a:solidFill>
                  <a:srgbClr val="1E3A5F"/>
                </a:solidFill>
                <a:latin typeface="Calibri"/>
              </a:rPr>
              <a:t>Read-only is liberating.</a:t>
            </a:r>
            <a:r>
              <a:rPr sz="1200">
                <a:solidFill>
                  <a:srgbClr val="333333"/>
                </a:solidFill>
                <a:latin typeface="Calibri"/>
              </a:rPr>
              <a:t>  No change control, no risk — analysts use it freely during operations.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7AE60"/>
                </a:solidFill>
                <a:latin typeface="Calibri"/>
              </a:rPr>
              <a:t>▸  </a:t>
            </a:r>
            <a:r>
              <a:rPr sz="1200" b="1">
                <a:solidFill>
                  <a:srgbClr val="1E3A5F"/>
                </a:solidFill>
                <a:latin typeface="Calibri"/>
              </a:rPr>
              <a:t>Time-to-answer changes behavior.</a:t>
            </a:r>
            <a:r>
              <a:rPr sz="1200">
                <a:solidFill>
                  <a:srgbClr val="333333"/>
                </a:solidFill>
                <a:latin typeface="Calibri"/>
              </a:rPr>
              <a:t>  When SoD checks are 60 s instead of hours, people actually run them.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7AE60"/>
                </a:solidFill>
                <a:latin typeface="Calibri"/>
              </a:rPr>
              <a:t>▸  </a:t>
            </a:r>
            <a:r>
              <a:rPr sz="1200" b="1">
                <a:solidFill>
                  <a:srgbClr val="1E3A5F"/>
                </a:solidFill>
                <a:latin typeface="Calibri"/>
              </a:rPr>
              <a:t>Audit trail builds trust.</a:t>
            </a:r>
            <a:r>
              <a:rPr sz="1200">
                <a:solidFill>
                  <a:srgbClr val="333333"/>
                </a:solidFill>
                <a:latin typeface="Calibri"/>
              </a:rPr>
              <a:t>  Every claim shows its query — reviewers verify, not just believe.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27AE60"/>
                </a:solidFill>
                <a:latin typeface="Calibri"/>
              </a:rPr>
              <a:t>▸  </a:t>
            </a:r>
            <a:r>
              <a:rPr sz="1200" b="1">
                <a:solidFill>
                  <a:srgbClr val="1E3A5F"/>
                </a:solidFill>
                <a:latin typeface="Calibri"/>
              </a:rPr>
              <a:t>Persistent memo wins.</a:t>
            </a:r>
            <a:r>
              <a:rPr sz="1200">
                <a:solidFill>
                  <a:srgbClr val="333333"/>
                </a:solidFill>
                <a:latin typeface="Calibri"/>
              </a:rPr>
              <a:t>  Multi-day investigations resume cleanly across sessions and analysts.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34 / 39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Quick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Three commands to get going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1">
                <a:solidFill>
                  <a:srgbClr val="2E86C1"/>
                </a:solidFill>
                <a:latin typeface="Calibri"/>
              </a:rPr>
              <a:t>1.  Install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5486400" cy="82296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901952"/>
            <a:ext cx="5303520" cy="676656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$ ./install.sh           # macOS / Linux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$ install.bat            # Windows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74320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1">
                <a:solidFill>
                  <a:srgbClr val="2E86C1"/>
                </a:solidFill>
                <a:latin typeface="Calibri"/>
              </a:rPr>
              <a:t>2.  Configure  (.env)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154680"/>
            <a:ext cx="5486400" cy="137160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3227832"/>
            <a:ext cx="5303520" cy="384272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dirty="0">
                <a:solidFill>
                  <a:srgbClr val="E6E6E6"/>
                </a:solidFill>
                <a:latin typeface="Consolas"/>
              </a:rPr>
              <a:t>ANTHROPIC_API_KEY=&lt;hyperspace-key&gt;</a:t>
            </a:r>
          </a:p>
          <a:p>
            <a:pPr algn="l">
              <a:lnSpc>
                <a:spcPct val="105000"/>
              </a:lnSpc>
            </a:pPr>
            <a:r>
              <a:rPr sz="1100" dirty="0">
                <a:solidFill>
                  <a:srgbClr val="E6E6E6"/>
                </a:solidFill>
                <a:latin typeface="Consolas"/>
              </a:rPr>
              <a:t>ANTHROPIC_BASE_URL=http://localhost:6655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61772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1">
                <a:solidFill>
                  <a:srgbClr val="2E86C1"/>
                </a:solidFill>
                <a:latin typeface="Calibri"/>
              </a:rPr>
              <a:t>3.  Run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029200"/>
            <a:ext cx="5486400" cy="128016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" y="5102352"/>
            <a:ext cx="5303520" cy="1133856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# Web UI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$ conda run -n sapcli-env \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uvicorn app.main:app --reload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# Then open http://localhost:8080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141732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600" b="1">
                <a:solidFill>
                  <a:srgbClr val="27AE60"/>
                </a:solidFill>
                <a:latin typeface="Calibri"/>
              </a:rPr>
              <a:t>First questions to try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1828800"/>
            <a:ext cx="548640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46520" y="1965960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27AE60"/>
                </a:solidFill>
                <a:latin typeface="Calibri"/>
              </a:rPr>
              <a:t>›  </a:t>
            </a:r>
            <a:r>
              <a:rPr sz="1200">
                <a:solidFill>
                  <a:srgbClr val="333333"/>
                </a:solidFill>
                <a:latin typeface="Consolas"/>
              </a:rPr>
              <a:t>What can I ask?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27AE60"/>
                </a:solidFill>
                <a:latin typeface="Calibri"/>
              </a:rPr>
              <a:t>›  </a:t>
            </a:r>
            <a:r>
              <a:rPr sz="1200">
                <a:solidFill>
                  <a:srgbClr val="333333"/>
                </a:solidFill>
                <a:latin typeface="Consolas"/>
              </a:rPr>
              <a:t>Glossary: what is a BRT, BC, App?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27AE60"/>
                </a:solidFill>
                <a:latin typeface="Calibri"/>
              </a:rPr>
              <a:t>›  </a:t>
            </a:r>
            <a:r>
              <a:rPr sz="1200">
                <a:solidFill>
                  <a:srgbClr val="333333"/>
                </a:solidFill>
                <a:latin typeface="Consolas"/>
              </a:rPr>
              <a:t>What is SoD and why does it matter?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27AE60"/>
                </a:solidFill>
                <a:latin typeface="Calibri"/>
              </a:rPr>
              <a:t>›  </a:t>
            </a:r>
            <a:r>
              <a:rPr sz="1200">
                <a:solidFill>
                  <a:srgbClr val="333333"/>
                </a:solidFill>
                <a:latin typeface="Consolas"/>
              </a:rPr>
              <a:t>/treasury-iam  Validate FTRCAI02_B_TRAN for BOE.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27AE60"/>
                </a:solidFill>
                <a:latin typeface="Calibri"/>
              </a:rPr>
              <a:t>›  </a:t>
            </a:r>
            <a:r>
              <a:rPr sz="1200">
                <a:solidFill>
                  <a:srgbClr val="333333"/>
                </a:solidFill>
                <a:latin typeface="Consolas"/>
              </a:rPr>
              <a:t>/cash-iam  Check four-eyes for SAP_BR_CASH_MANAGER.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27AE60"/>
                </a:solidFill>
                <a:latin typeface="Calibri"/>
              </a:rPr>
              <a:t>›  </a:t>
            </a:r>
            <a:r>
              <a:rPr sz="1200">
                <a:solidFill>
                  <a:srgbClr val="333333"/>
                </a:solidFill>
                <a:latin typeface="Consolas"/>
              </a:rPr>
              <a:t>/fin-iam  Trace the AP payment flow.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27AE60"/>
                </a:solidFill>
                <a:latin typeface="Calibri"/>
              </a:rPr>
              <a:t>›  </a:t>
            </a:r>
            <a:r>
              <a:rPr sz="1200">
                <a:solidFill>
                  <a:srgbClr val="333333"/>
                </a:solidFill>
                <a:latin typeface="Consolas"/>
              </a:rPr>
              <a:t>/goal  Audit FOE/BOE for all apps in CLOUD_FI_TR_IAM.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27AE60"/>
                </a:solidFill>
                <a:latin typeface="Calibri"/>
              </a:rPr>
              <a:t>›  </a:t>
            </a:r>
            <a:r>
              <a:rPr sz="1200">
                <a:solidFill>
                  <a:srgbClr val="333333"/>
                </a:solidFill>
                <a:latin typeface="Consolas"/>
              </a:rPr>
              <a:t>/execute  (after a /goal plan is presented)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1">
                <a:solidFill>
                  <a:srgbClr val="27AE60"/>
                </a:solidFill>
                <a:latin typeface="Calibri"/>
              </a:rPr>
              <a:t>›  </a:t>
            </a:r>
            <a:r>
              <a:rPr sz="1200">
                <a:solidFill>
                  <a:srgbClr val="333333"/>
                </a:solidFill>
                <a:latin typeface="Consolas"/>
              </a:rPr>
              <a:t>/memo save trm-foe-boe-validation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35 / 39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Project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Where everything lives in the repository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11430000" cy="493776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490472"/>
            <a:ext cx="11247120" cy="4791456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iam-assistant/</a:t>
            </a:r>
          </a:p>
          <a:p>
            <a:pPr algn="l">
              <a:lnSpc>
                <a:spcPct val="10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├── CLAUDE.md                     # Claude Code instructions  ·  data dictionary</a:t>
            </a:r>
          </a:p>
          <a:p>
            <a:pPr algn="l">
              <a:lnSpc>
                <a:spcPct val="10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├── README.md</a:t>
            </a:r>
          </a:p>
          <a:p>
            <a:pPr algn="l">
              <a:lnSpc>
                <a:spcPct val="10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├── pyproject.toml</a:t>
            </a:r>
          </a:p>
          <a:p>
            <a:pPr algn="l">
              <a:lnSpc>
                <a:spcPct val="10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├── .sapcli.env                   # ER6 credentials  (not committed; fallback only)</a:t>
            </a:r>
          </a:p>
          <a:p>
            <a:pPr algn="l">
              <a:lnSpc>
                <a:spcPct val="10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├── .env                          # Web UI settings  (not committed)</a:t>
            </a:r>
          </a:p>
          <a:p>
            <a:pPr algn="l">
              <a:lnSpc>
                <a:spcPct val="10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├── .mcp.json                     # MCP server registration</a:t>
            </a:r>
          </a:p>
          <a:p>
            <a:pPr algn="l">
              <a:lnSpc>
                <a:spcPct val="10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├── app/                          # Web UI application</a:t>
            </a:r>
          </a:p>
          <a:p>
            <a:pPr algn="l">
              <a:lnSpc>
                <a:spcPct val="10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│   ├── main.py                   # FastAPI app  ·  routes  ·  MCP lifespan</a:t>
            </a:r>
          </a:p>
          <a:p>
            <a:pPr algn="l">
              <a:lnSpc>
                <a:spcPct val="10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│   ├── auth.py                   # OIDC routes  ·  session dependency</a:t>
            </a:r>
          </a:p>
          <a:p>
            <a:pPr algn="l">
              <a:lnSpc>
                <a:spcPct val="10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│   ├── chat.py                   # Anthropic streaming  ·  tool execution</a:t>
            </a:r>
          </a:p>
          <a:p>
            <a:pPr algn="l">
              <a:lnSpc>
                <a:spcPct val="10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│   ├── config.py                 # Pydantic settings</a:t>
            </a:r>
          </a:p>
          <a:p>
            <a:pPr algn="l">
              <a:lnSpc>
                <a:spcPct val="10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│   └── mcp_client.py             # MCP subprocess client (stdio)</a:t>
            </a:r>
          </a:p>
          <a:p>
            <a:pPr algn="l">
              <a:lnSpc>
                <a:spcPct val="10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├── ui/</a:t>
            </a:r>
          </a:p>
          <a:p>
            <a:pPr algn="l">
              <a:lnSpc>
                <a:spcPct val="10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│   ├── templates/index.html</a:t>
            </a:r>
          </a:p>
          <a:p>
            <a:pPr algn="l">
              <a:lnSpc>
                <a:spcPct val="10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│   └── static/  app.js · style.css · prompt-templates.js · vendor/</a:t>
            </a:r>
          </a:p>
          <a:p>
            <a:pPr algn="l">
              <a:lnSpc>
                <a:spcPct val="10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├── mcp-server/</a:t>
            </a:r>
          </a:p>
          <a:p>
            <a:pPr algn="l">
              <a:lnSpc>
                <a:spcPct val="10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│   └── er6_mcp_server.py         # MCP server exposing six ER6 tools</a:t>
            </a:r>
          </a:p>
          <a:p>
            <a:pPr algn="l">
              <a:lnSpc>
                <a:spcPct val="10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├── skills/  (mirror)             # treasury-iam · cash-iam · fin-iam · goal · execute · memo</a:t>
            </a:r>
          </a:p>
          <a:p>
            <a:pPr algn="l">
              <a:lnSpc>
                <a:spcPct val="10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├── tests/                        # pytest suite (chat / auth / mcp / config / main)</a:t>
            </a:r>
          </a:p>
          <a:p>
            <a:pPr algn="l">
              <a:lnSpc>
                <a:spcPct val="10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├── docs/                         # this deck lives here</a:t>
            </a:r>
          </a:p>
          <a:p>
            <a:pPr algn="l">
              <a:lnSpc>
                <a:spcPct val="10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└── .claude/</a:t>
            </a:r>
          </a:p>
          <a:p>
            <a:pPr algn="l">
              <a:lnSpc>
                <a:spcPct val="10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    ├── hooks/  validate-memo · sync-skills · log-query</a:t>
            </a:r>
          </a:p>
          <a:p>
            <a:pPr algn="l">
              <a:lnSpc>
                <a:spcPct val="10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    ├── memo/   INDEX.md · .session-log.md · per-investigation memos</a:t>
            </a:r>
          </a:p>
          <a:p>
            <a:pPr algn="l">
              <a:lnSpc>
                <a:spcPct val="10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    ├── skills/    (source of truth)</a:t>
            </a:r>
          </a:p>
          <a:p>
            <a:pPr algn="l">
              <a:lnSpc>
                <a:spcPct val="10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    ├── commands/  (slash-command mirror)</a:t>
            </a:r>
          </a:p>
          <a:p>
            <a:pPr algn="l">
              <a:lnSpc>
                <a:spcPct val="10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    └── settings.json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36 / 39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Calibri"/>
              </a:rPr>
              <a:t>Common questions from new users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0972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1E3A5F"/>
                </a:solidFill>
                <a:latin typeface="Calibri"/>
              </a:rPr>
              <a:t>Q. Can the assistant modify ER6 data?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A. No. The ANZEIGER user has display-only privileges. Even if asked, no write is possible.</a:t>
            </a:r>
          </a:p>
          <a:p>
            <a:pPr>
              <a:spcBef>
                <a:spcPts val="600"/>
              </a:spcBef>
            </a:pPr>
            <a:endParaRPr sz="1100">
              <a:solidFill>
                <a:srgbClr val="333333"/>
              </a:solidFill>
              <a:latin typeface="Calibri"/>
            </a:endParaRPr>
          </a:p>
          <a:p>
            <a:pPr>
              <a:lnSpc>
                <a:spcPct val="115000"/>
              </a:lnSpc>
            </a:pPr>
            <a:r>
              <a:rPr sz="1200" b="1">
                <a:solidFill>
                  <a:srgbClr val="1E3A5F"/>
                </a:solidFill>
                <a:latin typeface="Calibri"/>
              </a:rPr>
              <a:t>Q. Is my prompt sent to Anthropic?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A. Routed through Hyperspace at localhost:6655. Configure ANTHROPIC_BASE_URL in .env.</a:t>
            </a:r>
          </a:p>
          <a:p>
            <a:pPr>
              <a:spcBef>
                <a:spcPts val="600"/>
              </a:spcBef>
            </a:pPr>
            <a:endParaRPr sz="1100">
              <a:solidFill>
                <a:srgbClr val="333333"/>
              </a:solidFill>
              <a:latin typeface="Calibri"/>
            </a:endParaRPr>
          </a:p>
          <a:p>
            <a:pPr>
              <a:lnSpc>
                <a:spcPct val="115000"/>
              </a:lnSpc>
            </a:pPr>
            <a:r>
              <a:rPr sz="1200" b="1">
                <a:solidFill>
                  <a:srgbClr val="1E3A5F"/>
                </a:solidFill>
                <a:latin typeface="Calibri"/>
              </a:rPr>
              <a:t>Q. What if a query fails or times out?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A. Claude reports the failure, retries with a smaller scope, or falls back to read_table_def to verify column names.</a:t>
            </a:r>
          </a:p>
          <a:p>
            <a:pPr>
              <a:spcBef>
                <a:spcPts val="600"/>
              </a:spcBef>
            </a:pPr>
            <a:endParaRPr sz="1100">
              <a:solidFill>
                <a:srgbClr val="333333"/>
              </a:solidFill>
              <a:latin typeface="Calibri"/>
            </a:endParaRPr>
          </a:p>
          <a:p>
            <a:pPr>
              <a:lnSpc>
                <a:spcPct val="115000"/>
              </a:lnSpc>
            </a:pPr>
            <a:r>
              <a:rPr sz="1200" b="1">
                <a:solidFill>
                  <a:srgbClr val="1E3A5F"/>
                </a:solidFill>
                <a:latin typeface="Calibri"/>
              </a:rPr>
              <a:t>Q. How do I add a new domain (e.g. Procurement)?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A. Author a new skill file in .claude/skills/. The sync hook propagates it to skills/ and .claude/commands/.</a:t>
            </a:r>
          </a:p>
          <a:p>
            <a:pPr>
              <a:spcBef>
                <a:spcPts val="600"/>
              </a:spcBef>
            </a:pPr>
            <a:endParaRPr sz="1100">
              <a:solidFill>
                <a:srgbClr val="333333"/>
              </a:solidFill>
              <a:latin typeface="Calibri"/>
            </a:endParaRPr>
          </a:p>
          <a:p>
            <a:pPr>
              <a:lnSpc>
                <a:spcPct val="115000"/>
              </a:lnSpc>
            </a:pPr>
            <a:r>
              <a:rPr sz="1200" b="1">
                <a:solidFill>
                  <a:srgbClr val="1E3A5F"/>
                </a:solidFill>
                <a:latin typeface="Calibri"/>
              </a:rPr>
              <a:t>Q. Can two analysts use the Web UI simultaneously?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A. Yes — each OIDC session is independent; the MCP server multiplexes calls.</a:t>
            </a:r>
          </a:p>
          <a:p>
            <a:pPr>
              <a:spcBef>
                <a:spcPts val="600"/>
              </a:spcBef>
            </a:pPr>
            <a:endParaRPr sz="1100">
              <a:solidFill>
                <a:srgbClr val="333333"/>
              </a:solidFill>
              <a:latin typeface="Calibri"/>
            </a:endParaRPr>
          </a:p>
          <a:p>
            <a:pPr>
              <a:lnSpc>
                <a:spcPct val="115000"/>
              </a:lnSpc>
            </a:pPr>
            <a:r>
              <a:rPr sz="1200" b="1">
                <a:solidFill>
                  <a:srgbClr val="1E3A5F"/>
                </a:solidFill>
                <a:latin typeface="Calibri"/>
              </a:rPr>
              <a:t>Q. Does it work offline?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A. No. ER6 connectivity is required (and an Anthropic-compatible endpoint).</a:t>
            </a:r>
          </a:p>
          <a:p>
            <a:pPr>
              <a:spcBef>
                <a:spcPts val="600"/>
              </a:spcBef>
            </a:pPr>
            <a:endParaRPr sz="1100">
              <a:solidFill>
                <a:srgbClr val="333333"/>
              </a:solidFill>
              <a:latin typeface="Calibri"/>
            </a:endParaRPr>
          </a:p>
          <a:p>
            <a:pPr>
              <a:lnSpc>
                <a:spcPct val="115000"/>
              </a:lnSpc>
            </a:pPr>
            <a:r>
              <a:rPr sz="1200" b="1">
                <a:solidFill>
                  <a:srgbClr val="1E3A5F"/>
                </a:solidFill>
                <a:latin typeface="Calibri"/>
              </a:rPr>
              <a:t>Q. What happens if a skill conflicts with CLAUDE.md?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A. Explicit user instructions and CLAUDE.md take precedence over skill content.</a:t>
            </a:r>
          </a:p>
          <a:p>
            <a:pPr>
              <a:spcBef>
                <a:spcPts val="600"/>
              </a:spcBef>
            </a:pPr>
            <a:endParaRPr sz="1100">
              <a:solidFill>
                <a:srgbClr val="333333"/>
              </a:solidFill>
              <a:latin typeface="Calibri"/>
            </a:endParaRPr>
          </a:p>
          <a:p>
            <a:pPr>
              <a:lnSpc>
                <a:spcPct val="115000"/>
              </a:lnSpc>
            </a:pPr>
            <a:r>
              <a:rPr sz="1200" b="1">
                <a:solidFill>
                  <a:srgbClr val="1E3A5F"/>
                </a:solidFill>
                <a:latin typeface="Calibri"/>
              </a:rPr>
              <a:t>Q. Can I run only the CLI without the Web UI?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A. Yes — the CLI uses only the MCP server. The Web UI is a separate optional FastAPI app.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IAM Assistant  ·  Claude Code–powered IAM analysis on SAP ER6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1000" b="0">
                <a:solidFill>
                  <a:srgbClr val="666666"/>
                </a:solidFill>
                <a:latin typeface="Calibri"/>
              </a:rPr>
              <a:t>37 / 39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32720" cy="12801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332720" cy="71404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2200" b="0" dirty="0">
                <a:solidFill>
                  <a:srgbClr val="CFDBE8"/>
                </a:solidFill>
                <a:latin typeface="Calibri"/>
              </a:rPr>
              <a:t>Questions, demos, and prompt experiments welcome.</a:t>
            </a:r>
            <a:endParaRPr lang="en-US" sz="2200" b="0" dirty="0">
              <a:solidFill>
                <a:srgbClr val="CFDBE8"/>
              </a:solidFill>
              <a:latin typeface="Calibri"/>
            </a:endParaRPr>
          </a:p>
          <a:p>
            <a:pPr algn="ctr"/>
            <a:endParaRPr sz="2200" b="0" dirty="0">
              <a:solidFill>
                <a:srgbClr val="CFDBE8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332720" cy="529376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400" b="0" dirty="0">
                <a:solidFill>
                  <a:srgbClr val="E67E22"/>
                </a:solidFill>
                <a:latin typeface="Calibri"/>
              </a:rPr>
              <a:t>IAM Assistant  ·  built with Claude Code on SAP ER6</a:t>
            </a:r>
            <a:endParaRPr lang="en-US" sz="1400" b="0" dirty="0">
              <a:solidFill>
                <a:srgbClr val="E67E22"/>
              </a:solidFill>
              <a:latin typeface="Calibri"/>
            </a:endParaRPr>
          </a:p>
          <a:p>
            <a:pPr algn="ctr"/>
            <a:r>
              <a:rPr lang="en-CN" sz="1400" dirty="0">
                <a:solidFill>
                  <a:srgbClr val="E67E22"/>
                </a:solidFill>
                <a:latin typeface="Calibri"/>
              </a:rPr>
              <a:t>📦 GitHub Repository: </a:t>
            </a:r>
            <a:r>
              <a:rPr lang="en-CN" dirty="0"/>
              <a:t> </a:t>
            </a:r>
            <a:r>
              <a:rPr lang="en-CN" sz="1400" dirty="0">
                <a:solidFill>
                  <a:srgbClr val="E67E22"/>
                </a:solidFill>
                <a:latin typeface="Calibri"/>
                <a:hlinkClick r:id="rId3" tooltip="https://github.tools.sap/I015289/iam-assistan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https://github.tools.sap/I015289/iam-assistant</a:t>
            </a:r>
            <a:endParaRPr sz="1400" dirty="0">
              <a:solidFill>
                <a:srgbClr val="E67E22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cf7ac0a-4681-4823-ab0b-04ef02c5f873}" enabled="1" method="Standard" siteId="{42f7676c-f455-423c-82f6-dc2d99791af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145</TotalTime>
  <Words>6911</Words>
  <Application>Microsoft Macintosh PowerPoint</Application>
  <PresentationFormat>Widescreen</PresentationFormat>
  <Paragraphs>1003</Paragraphs>
  <Slides>38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3" baseType="lpstr">
      <vt:lpstr>Aptos</vt:lpstr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Wang, John</cp:lastModifiedBy>
  <cp:revision>17</cp:revision>
  <dcterms:created xsi:type="dcterms:W3CDTF">2013-01-27T09:14:16Z</dcterms:created>
  <dcterms:modified xsi:type="dcterms:W3CDTF">2026-06-10T11:56:16Z</dcterms:modified>
  <cp:category/>
</cp:coreProperties>
</file>