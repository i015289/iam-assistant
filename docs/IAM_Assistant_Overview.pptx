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2194560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SAP ER6  ·  IAM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IAM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CFDBE8"/>
                </a:solidFill>
                <a:latin typeface="Calibri"/>
              </a:rPr>
              <a:t>A Claude Code–powered assistant for analyzing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CFDBE8"/>
                </a:solidFill>
                <a:latin typeface="Calibri"/>
              </a:rPr>
              <a:t>SAP IAM data on the ER6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Natural language  →  multi-step ER6 queries  →  clean answers in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BE8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1.  The Problem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Why IAM analysis on SAP is hard today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2.  What is IAM Assistant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Two modes — Claude Code CLI and Web UI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3.  Architecture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End-to-end flow from question to answer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4.  Domain Skills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Treasury, Cash Management, Finance specialists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5.  Workflow Tools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/goal, /execute, /memo and quality hooks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6.  Live Examples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SoD validation and catalog split scenarios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7.  Benefits &amp; Impact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Time savings, safety, knowledge accumulation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8.  Roadmap &amp; Q&amp;A</a:t>
            </a:r>
            <a:r>
              <a:rPr sz="1800">
                <a:solidFill>
                  <a:srgbClr val="333333"/>
                </a:solidFill>
                <a:latin typeface="Calibri"/>
              </a:rPr>
              <a:t>    —    What's next and open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Core IAM terms used throughout this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3344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Acronym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Business Role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Top-level role assigned to users; collection of business catalogs.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SAP_BR_TREASURY_SPECIALIST_FOE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Business Catalog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Group of Fiori apps with shared restriction types and access rules.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SAP_FIN_BC_TRM_BACK_OFFICE_PC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IAM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Atomic Fiori application unit with auth-object instances and values.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FTRCAI02_B_TRAN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Authorization Object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Auth Obj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ABAP entity controlling access; carries fields and activity values.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T_DEAL_PD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ACTVT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Standard SAP activity code (01=Create, 02=Change, 03=Display, …).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01, 02, 16, 85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Restriction Type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Reusable scope-restriction grouping fields like company code.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BUKRS_GLRLDNR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Segregation of Duties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Control: same person cannot both perform and approve a sensitive 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FOE cannot Settle (D3 × 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Front / Back / Middle Office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FOE / BOE / MOE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organisational split — trading vs settlement vs risk.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FOE = traders; BOE = settlers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Transaction Function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TRFCT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deal lifecycle stage on T_DEAL_*.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D1=Order, D2=Contract, D3=Settle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Hedge Request Category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HREQ_CAT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Hedge management lifecycle category on T_TOE_HR.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A=Designation, D=Dedesignation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334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Model Context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Open standard for connecting LLM agents to external tool servers.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er6_mcp_server.py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5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ER6 ANZEIGER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Read-only ABAP user used by IAM Assistant; SSL-encrypted.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Display privileges only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E86C1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The Problem and 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Analyzing SAP IAM today is slow, manual, and expert-bound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Today's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SAP expertise required.</a:t>
            </a:r>
            <a:r>
              <a:rPr sz="1300">
                <a:solidFill>
                  <a:srgbClr val="333333"/>
                </a:solidFill>
                <a:latin typeface="Calibri"/>
              </a:rPr>
              <a:t>  Direct ER6 access via SE16, plus deep table knowledge.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Cross-table joins by hand.</a:t>
            </a:r>
            <a:r>
              <a:rPr sz="1300">
                <a:solidFill>
                  <a:srgbClr val="333333"/>
                </a:solidFill>
                <a:latin typeface="Calibri"/>
              </a:rPr>
              <a:t>  APPAUI → APPAUV → BC_APP → BRTBUC...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SoD rules in people's heads.</a:t>
            </a:r>
            <a:r>
              <a:rPr sz="1300">
                <a:solidFill>
                  <a:srgbClr val="333333"/>
                </a:solidFill>
                <a:latin typeface="Calibri"/>
              </a:rPr>
              <a:t>  FOE/BOE forbidden combos, TRFCT semantics, country variants.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Findings disappear.</a:t>
            </a:r>
            <a:r>
              <a:rPr sz="1300">
                <a:solidFill>
                  <a:srgbClr val="333333"/>
                </a:solidFill>
                <a:latin typeface="Calibri"/>
              </a:rPr>
              <a:t>  No persistent record between sessions or analysts.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Slow turnaround.</a:t>
            </a:r>
            <a:r>
              <a:rPr sz="1300">
                <a:solidFill>
                  <a:srgbClr val="333333"/>
                </a:solidFill>
                <a:latin typeface="Calibri"/>
              </a:rPr>
              <a:t>  A single SoD validation can take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Calibri"/>
              </a:rPr>
              <a:t>What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12064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Natural-language access.</a:t>
            </a:r>
            <a:r>
              <a:rPr sz="1300">
                <a:solidFill>
                  <a:srgbClr val="333333"/>
                </a:solidFill>
                <a:latin typeface="Calibri"/>
              </a:rPr>
              <a:t>  Ask in English; system handles SQL.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Encoded domain rules.</a:t>
            </a:r>
            <a:r>
              <a:rPr sz="1300">
                <a:solidFill>
                  <a:srgbClr val="333333"/>
                </a:solidFill>
                <a:latin typeface="Calibri"/>
              </a:rPr>
              <a:t>  SoD matrices, table quirks, query pitfalls.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Persistent memory.</a:t>
            </a:r>
            <a:r>
              <a:rPr sz="1300">
                <a:solidFill>
                  <a:srgbClr val="333333"/>
                </a:solidFill>
                <a:latin typeface="Calibri"/>
              </a:rPr>
              <a:t>  Findings survive across sessions.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Autonomous multi-step work.</a:t>
            </a:r>
            <a:r>
              <a:rPr sz="1300">
                <a:solidFill>
                  <a:srgbClr val="333333"/>
                </a:solidFill>
                <a:latin typeface="Calibri"/>
              </a:rPr>
              <a:t>  Chain queries; adapt to results.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 b="1">
                <a:solidFill>
                  <a:srgbClr val="1E3A5F"/>
                </a:solidFill>
                <a:latin typeface="Calibri"/>
              </a:rPr>
              <a:t>Read-only safety.</a:t>
            </a:r>
            <a:r>
              <a:rPr sz="1300">
                <a:solidFill>
                  <a:srgbClr val="333333"/>
                </a:solidFill>
                <a:latin typeface="Calibri"/>
              </a:rPr>
              <a:t>  No risk to production IAM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What is IAM Assistant?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An AI-powered analysis layer on top of SAP ER6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An interactive assistant that translates natural-language IAM questions into correct multi-step ABAP Open SQL query chains against ER6, returning clean answers — and remembering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548640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Mode 1  ·  Claude Code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5212080" cy="2697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Interactive command-line assistant powered by Claude Opus.
•  Domain skills: /treasury-iam, /cash-iam, /fin-iam
•  Goal-driven autonomous agent: /goal + /execute
•  Persistent memo system: /memo
•  Quality enforcement via three lifecycle hooks
•  Direct MCP access to ER6 — no shell scripting
Best for: deep multi-step investigations, audits, and split planning.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8892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788920"/>
            <a:ext cx="5486400" cy="6400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Mode 2  ·  Web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212080" cy="2697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Browser-based chat UI built on FastAPI.
•  Same Claude model, same MCP tools as the CLI
•  OIDC authentication; per-user sessions
•  Light / Dark theme (Catppuccin Latte / Mocha)
•  Categorised prompt template library
•  Streaming responses with markdown rendering
Best for: shared team access, ad-hoc questions, and onboarding new analysts.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Natural language in, validated answers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447" y="1828800"/>
            <a:ext cx="2011680" cy="137160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96596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423160"/>
            <a:ext cx="20116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Analyst asks a
question in English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9415" y="2331720"/>
            <a:ext cx="192024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9727" y="1828800"/>
            <a:ext cx="2011680" cy="13716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9727" y="196596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Claude (Opus)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9727" y="2423160"/>
            <a:ext cx="20116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Selects skill;
plans queries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79695" y="2331720"/>
            <a:ext cx="192024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90007" y="1828800"/>
            <a:ext cx="2011680" cy="13716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0007" y="196596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Skills +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007" y="2423160"/>
            <a:ext cx="20116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Domain context
and validation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19975" y="2331720"/>
            <a:ext cx="192024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0287" y="182880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0287" y="196596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287" y="2423160"/>
            <a:ext cx="20116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ER6 tool layer
(stdio JSON-RPC)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60255" y="2331720"/>
            <a:ext cx="192024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70567" y="1828800"/>
            <a:ext cx="2011680" cy="13716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0567" y="196596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SAP ER6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0567" y="2423160"/>
            <a:ext cx="20116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ABAP Open SQL
(read-only ANZEIGER)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Result rows + analysis stream back to the user with citations to the queries that produced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Stack components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44348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61257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6125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Frontend (UI)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FastAPI + Jinja2 + vanilla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Light/Dark theme, streaming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Claude Opus (latest)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Via Hyperspace proxy at localhost:6655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6125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Markdown skill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Mirrored to .claude/skills, .claude/commands, skills/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 Server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er6_mcp_server.py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stdio JSON-RPC; six ER6 tools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6125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ER6 (ABAP)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ANZEIGER user, read-only, SSL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Hooks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Bash hooks in .claude/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validate-memo, sync-skills, log-query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MCP Tool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Six ER6 tools exposed to Claude over stdio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39634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latency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mcp__er6__query_sql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 ABAP Open SQL SELECT statements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Auth value lookups, BRT mapping, joins by 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mcp__er6__read_table_def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DDIC table / structure DDL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Verify column names before writing SQL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8.9 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mcp__er6__read_cds_view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CDS view (DDLS)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Inspect view logic,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~9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mcp__er6__read_class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ABAP class source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Trace BAdI / handler implementation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~9 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mcp__er6__read_program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program / report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Inspect helper reports, generated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~9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mcp__er6__list_package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List all objects in a package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Discover SIA6 apps in CLOUD_FI_TR_IAM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17.3 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ABAP Open SQL constraints  ·  what Claude knows to 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11430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No JOINs.</a:t>
            </a:r>
            <a:r>
              <a:rPr sz="1100">
                <a:solidFill>
                  <a:srgbClr val="333333"/>
                </a:solidFill>
                <a:latin typeface="Calibri"/>
              </a:rPr>
              <a:t>  Run separate queries; correlate in memory — or use a CDS view that pre-joins.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No subqueries.</a:t>
            </a:r>
            <a:r>
              <a:rPr sz="1100">
                <a:solidFill>
                  <a:srgbClr val="333333"/>
                </a:solidFill>
                <a:latin typeface="Calibri"/>
              </a:rPr>
              <a:t>  Same — break into multiple round-trips.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No table aliases (AS x).</a:t>
            </a:r>
            <a:r>
              <a:rPr sz="1100">
                <a:solidFill>
                  <a:srgbClr val="333333"/>
                </a:solidFill>
                <a:latin typeface="Calibri"/>
              </a:rPr>
              <a:t>  Same error as JOIN — refer to columns by unqualified name.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Long IN(...) lists fail at ~255 chars.</a:t>
            </a:r>
            <a:r>
              <a:rPr sz="1100">
                <a:solidFill>
                  <a:srgbClr val="333333"/>
                </a:solidFill>
                <a:latin typeface="Calibri"/>
              </a:rPr>
              <a:t>  Use LIKE '&lt;prefix&gt;%' or BETWEEN '&lt;lo&gt;' AND '&lt;hi&gt;' instead.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UP TO N ROWS + WHERE is rejected.</a:t>
            </a:r>
            <a:r>
              <a:rPr sz="1100">
                <a:solidFill>
                  <a:srgbClr val="333333"/>
                </a:solidFill>
                <a:latin typeface="Calibri"/>
              </a:rPr>
              <a:t>  Use the rows parameter on query_sql instead — always safe.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APS_IAM_W_BUC is not directly queryable.</a:t>
            </a:r>
            <a:r>
              <a:rPr sz="1100">
                <a:solidFill>
                  <a:srgbClr val="333333"/>
                </a:solidFill>
                <a:latin typeface="Calibri"/>
              </a:rPr>
              <a:t>  Use CDS view I_APS_BUSINESS_CATALOG (preferred), or raw APS_IAM_W_BRTBUC / W_BC_APP.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SUI_TM_MM_APP stores Treasury app IDs as GUIDs.</a:t>
            </a:r>
            <a:r>
              <a:rPr sz="1100">
                <a:solidFill>
                  <a:srgbClr val="333333"/>
                </a:solidFill>
                <a:latin typeface="Calibri"/>
              </a:rPr>
              <a:t>  Use APS_IAM_W_BC_APP for app-name lookups.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Active vs superseded instances.</a:t>
            </a:r>
            <a:r>
              <a:rPr sz="1100">
                <a:solidFill>
                  <a:srgbClr val="333333"/>
                </a:solidFill>
                <a:latin typeface="Calibri"/>
              </a:rPr>
              <a:t>  INACTIVE = blank means active; INACTIVE = 'X' means superseded.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Data Dictionary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 ER6 tables that drive every IAM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32232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Columns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TDEVC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ABAP packages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DEVCLASS, PACKTYPE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TADIR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ABAP object registry — find SIA6 app objects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OBJ_NAME, OBJECT, PGMID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USOBT / USOBX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Auth defaults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T-code → required auth objects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NAME (TCODE), OBJECT,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 registry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Master list of IAM apps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APP_ID, APP_TYPE, TCODE, READ_ONLY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 display texts (multi-language)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APP_ID, LANGU,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APS_IAM_W_APPAUI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 authz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Auth object instances per app (UUID-keyed)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APP_ID, UUID, AUTH_OBJECT, INACTIVE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APS_IAM_W_APPAUV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 authz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Field-level values (TRFCT, ACTVT, 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APP_ID, UUID, PARENT_ID, FIELD, LOW/HIGH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APS_IAM_W_APPAUO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 authz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Auth object exclusions (outbound)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APP_ID, AUTH_OBJECT, STATUS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APS_IAM_W_BC_APP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Business catalog ↔ app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BU_CATALOG_ID, APP_ID, IS_FOLDER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APS_IAM_W_BUC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Catalog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Business Catalog master  (⚠ use CDS  I_APS_BUSINESS_CATALOG)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BU_CATALOG_ID, AGR_NAME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APS_IAM_W_BRTBUC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BRT ↔ Business Catalog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BRT_ID, BU_CATALOG_ID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APS_IAM_W_BRT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Business Role Template master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BRT_ID, SCOPE_DEPENDENT, FIORI_SPACE_ID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APS_IAM_W_RT / 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Restriction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Restriction-type and restriction-rule masters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RTYPE_ID, AUTH_OBJECT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SUI_TM_MM_APP / CAT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Launchpad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Fiori Launchpad app↔catalog mapping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APP_ID (GUID for TRM), CAT_ID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Table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How a question flows through the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7432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2560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APS_IAM_W_BRT  ·  BRT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6596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BRT_ID, FIORI_SPACE_ID, SCOPE_DEPENDENT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2743200" cy="3840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60904"/>
            <a:ext cx="2560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APS_IAM_W_BRTBUC  ·  BRT→BC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0632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BRT_ID, BU_CATALOG_ID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2743200" cy="3840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58184"/>
            <a:ext cx="2560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APS_IAM_W_BC_APP  ·  BC→App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1605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BU_CATALOG_ID, APP_ID, IS_FOLDER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70332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703320"/>
            <a:ext cx="2743200" cy="3840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758184"/>
            <a:ext cx="2560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APS_IAM_W_APP  · 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1605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APP_ID, TCODE, APP_TYPE, READ_ONLY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80060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800600"/>
            <a:ext cx="2743200" cy="3840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855464"/>
            <a:ext cx="2560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APS_IAM_W_APPAUI  ·  Instances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52578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APP_ID, UUID, AUTH_OBJECT, INACTIVE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80060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800600"/>
            <a:ext cx="3657600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855464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APS_IAM_W_APPAUV  ·  Field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5257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APP_ID, UUID, PARENT_ID, FIELD, LOW_VALUE, HIGH_VALUE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70332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703320"/>
            <a:ext cx="3657600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758184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APS_IAM_W_AU  ·  Auth obj 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16052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AUTH_OBJECT_ID, AUTH_OBJECT, ACTIVITY_FIELD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37360" y="2331720"/>
            <a:ext cx="0" cy="2743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37360" y="3429000"/>
            <a:ext cx="0" cy="2743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08960" y="4114800"/>
            <a:ext cx="118872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669280" y="4526280"/>
            <a:ext cx="0" cy="2743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40880" y="5212080"/>
            <a:ext cx="118872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040880" y="4114800"/>
            <a:ext cx="118872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Typical SoD validation chain  ·  BRT  →  BRTBUC  →  BC_APP  →  APP  →  APPAUI  →  APPAUV  →  rule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PARENT_ID on APPAUV links each value back to its APPAUI instance via UUID.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CDS View Layer  ·  Recommended over raw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1263 CDS views across 75 sub-packages under SR_APS_IAM_*  —  the supported semantic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High-value views for multi-hop questions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300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4577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CDS view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Pre-joins / replaces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4577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I_APS_BUSINESS_CATALOG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APS_IAM_W_BUC + 12 associations  (_App, _Successor, _RestrictionType, _BRT, 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Search-enabled. Always prefer over raw W_BUC.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APS_IAM_AUTH_FIELD_VAL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APPAUI ⋈ APPAUV ⋈ TACTT ⋈ RT_AO  (App → AuthObject → Field → Value)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ActivityValue is pre-translated. No scope filter — works for SIA1 + SIA6.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4577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APS_IAM_INFO_BRT_BC_BASIC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BRTBUC ⋈ BRT ⋈ BRTT  (BRT → BC with template name + component)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Hidden filter: scope_state='3' or non-scope-dependent. Country variants may be missing — fall back to raw BRTBUC.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⚠ Routing rule  ·  SIA6 (migrated) vs SIA1 (legacy) catalogs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0"/>
            <a:ext cx="114300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Catalog migrated to IAM-Apps (SIA6).</a:t>
            </a:r>
            <a:r>
              <a:rPr sz="1100">
                <a:solidFill>
                  <a:srgbClr val="333333"/>
                </a:solidFill>
                <a:latin typeface="Calibri"/>
              </a:rPr>
              <a:t>  Use APS_IAM_BRT_APP for one-hop BRT → App.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Catalog still on SIA1  (Cash Management, Treasury today).</a:t>
            </a:r>
            <a:r>
              <a:rPr sz="1100">
                <a:solidFill>
                  <a:srgbClr val="333333"/>
                </a:solidFill>
                <a:latin typeface="Calibri"/>
              </a:rPr>
              <a:t>  BRT → BC via APS_IAM_INFO_BRT_BC_BASIC, then BC → App via raw APS_IAM_W_BC_APP. Auth view (APS_IAM_AUTH_FIELD_VAL) works regardless.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VDM naming convention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6928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I_  Interface (reuse entry point).</a:t>
            </a:r>
            <a:r>
              <a:rPr sz="1000">
                <a:solidFill>
                  <a:srgbClr val="333333"/>
                </a:solidFill>
                <a:latin typeface="Calibri"/>
              </a:rPr>
              <a:t>  I_APS_BUSINESS_CATALOG, I_APS_IAM_APP_CORE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C_  Consumption (OData / Fiori).</a:t>
            </a:r>
            <a:r>
              <a:rPr sz="1000">
                <a:solidFill>
                  <a:srgbClr val="333333"/>
                </a:solidFill>
                <a:latin typeface="Calibri"/>
              </a:rPr>
              <a:t>  C_APS_IAM_BR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R_ / P_ / D_  Restricted / Private / Draft.</a:t>
            </a:r>
            <a:r>
              <a:rPr sz="1000">
                <a:solidFill>
                  <a:srgbClr val="333333"/>
                </a:solidFill>
                <a:latin typeface="Calibri"/>
              </a:rPr>
              <a:t>  R_APS_IAM_APP_TIL, P_APS_IAM_APP, D_APS_IAM_BUSR_RAP_*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APS_IAM_*_DDL, *_BASIC.</a:t>
            </a:r>
            <a:r>
              <a:rPr sz="1000">
                <a:solidFill>
                  <a:srgbClr val="333333"/>
                </a:solidFill>
                <a:latin typeface="Calibri"/>
              </a:rPr>
              <a:t>  Pre-VDM legacy — still widely 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Skill Files  ·  Where Domain Knowledge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Versioned markdown — not conversation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Anatomy of a skill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6858000" cy="36576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6675120" cy="35112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name: treasury-iam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description: Treasury IAM specialist — FOE/BOE SoD,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     T_DEAL_*, T_TOE_HR, country variants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## When to use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- Validate FOE / BOE / MOE SoD compliance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- Plan catalog splits for forbidden combinations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- Audit hedge request management on T_TOE_HR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## Forbidden combinations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FOE: D3×01, D3×85, D2×AB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BOE: D2×01, D2×02, D2×16, D2×85, D2×KU, D2×VF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## Workflow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1. Look up the app in APS_IAM_W_APP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2. Find catalog via APS_IAM_W_BC_APP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3. Pull APPAUI then APPAUV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4. Cross-check forbidden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Three sync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94560"/>
            <a:ext cx="4297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.claude/skills/</a:t>
            </a:r>
            <a:r>
              <a:rPr sz="1100">
                <a:solidFill>
                  <a:srgbClr val="333333"/>
                </a:solidFill>
                <a:latin typeface="Calibri"/>
              </a:rPr>
              <a:t>  Source of truth — edit here.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skills/</a:t>
            </a:r>
            <a:r>
              <a:rPr sz="1100">
                <a:solidFill>
                  <a:srgbClr val="333333"/>
                </a:solidFill>
                <a:latin typeface="Calibri"/>
              </a:rPr>
              <a:t>  Mirror with frontmatter — for git diffs.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.claude/commands/</a:t>
            </a:r>
            <a:r>
              <a:rPr sz="1100">
                <a:solidFill>
                  <a:srgbClr val="333333"/>
                </a:solidFill>
                <a:latin typeface="Calibri"/>
              </a:rPr>
              <a:t>  Slash command — frontmatter stripped.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1605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Two activation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526280"/>
            <a:ext cx="42976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Explicit.</a:t>
            </a:r>
            <a:r>
              <a:rPr sz="1100">
                <a:solidFill>
                  <a:srgbClr val="333333"/>
                </a:solidFill>
                <a:latin typeface="Calibri"/>
              </a:rPr>
              <a:t>  Type /treasury-iam — full context loaded immediately.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Automatic.</a:t>
            </a:r>
            <a:r>
              <a:rPr sz="1100">
                <a:solidFill>
                  <a:srgbClr val="333333"/>
                </a:solidFill>
                <a:latin typeface="Calibri"/>
              </a:rPr>
              <a:t>  Keyword match (FOE, T_DEAL, hedge…) triggers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Domain Skills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Domain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Three IAM specialists with full encoded domain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57600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/treasury-iam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Treasury (TRM)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Auth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1071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T_DEAL_PD / PF / DP / AG, T_TOE_HR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SoD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FOE / BOE / MOE forbidden TRFCT × ACTVT matrices, hedge SoD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4807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30+ auth objects, BRT inventory, country variants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15087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508760"/>
            <a:ext cx="365760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6002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/cash-iam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28600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54203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Cash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1546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Auth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1071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F_CLM_BAM / BAOR / BKCR / BAI / BAIC / BAH2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02336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SoD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7939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Four-eyes principle (submit ≠ approve)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89204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514807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BAM2, BAA submit/approve, BAI catalogs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15087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6" y="1508760"/>
            <a:ext cx="365760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16002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/fin-iam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228600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254203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Finance — AP / AR / GL / 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1546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Auth objects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341071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F_BKPF_BUK / BLA / KOA, F_LFA1_BUK, F_KNA1_BUK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402336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SoD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427939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Payment-run SoD, AR dunning, GL posting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056" y="489204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514807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AP, AR, GL, BA packages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Activated explicitly  (e.g. /treasury-iam)  or automatically by keyword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Plus  /iam-wiki  — SAP Confluence wiki researcher (CLI-only; not exposed in the Web UI).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Treasury SoD  ·  Forbidden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Encoded in /treasury-iam — checked automatically on every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FOE catalog must NOT contain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TRFCT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ACTVT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 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Reverse settlement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Settle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337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BOE catalog must NOT contain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749039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39634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TRFCT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ACTVT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Edit contract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Execute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Reverse contract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Give Notice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Expire contract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Hedge (T_TOE_HR)  ·  MOE forbidden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2880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10896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HREQ_CAT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ACTVT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1089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Release manual designation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Reverse manual designation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Release dedesignation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Reverse dedesignation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3611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Hedge (T_TOE_HR)  ·  Accountant forbidden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40233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39634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HREQ_CAT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ACTVT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 manual designation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Change manual designation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Delete manual designation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 dedesignation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39634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Change dedesignation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Delete dedesignation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Treasury BRTs and Auth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What roles look like, what objects they touch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Business Role Templates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04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BRT ID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Display Name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Office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SAP_BR_TREASURY_SPECIALIST_FOE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Specialist · Front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Place orders, manage trading positions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SAP_BR_TREASURY_SPECIALIST_BOE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Specialist · Back Office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BOE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Settle contracts, post payments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SAP_BR_TREASURY_SPECIALIST_MOE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Specialist · Middle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Risk monitoring, hedge designation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SAP_BR_TREASURY_ACCOUNTANT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Accountant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BOE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Accounting close, dedesignation release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SAP_BR_TREASURY_RISK_MANAGER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Risk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Limit setting, exposure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Country variants  ·  _CN, _SG, _TH, _BR follow the same catalog pattern as the base BRT.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Core auth objects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5720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04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 Object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Applies to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T_DEAL_PD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Company / product / transaction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All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TRFCT, ACTVT, BUKRS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T_DEAL_PF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Company / portfolio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All transactions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TRFCT, ACTVT, BUKRS, RPORTB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T_DEAL_DP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Company / securities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Securities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TRFCT, ACTVT, BUKRS, RDEPO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T_DEAL_AG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Company / authorization group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Unused in cloud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TRFCT, ACTVT, BUKRS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04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T_TOE_HR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Hedge request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Hedge designation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HREQ_CAT, ACTVT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Cash Management  ·  Auth Objects &amp; Activity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Bank account governance and the four-eyes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Authorization objects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13508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 Object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ACTVT values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F_CLM_BAM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 master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01=Create, 02=Change, 03=Display, 06=Delete, 63=Transport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F_CLM_BAOR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 opening request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03=Display, 31=Approve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F_CLM_BKCR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 change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01=Create, 02=Change, 03=Display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F_CLM_BAI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 interest records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03=Display, 06=Delete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F_CLM_BAIC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 interest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01=Create, 02=Change, 03=Display, 06=Delete, F4=Value Help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F_CLM_BAH2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 hierarchy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01=Create, 02=Change, 03=Display, 06=Delete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Activity matrix per key Cash Management app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5720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03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F_CLM_BAM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F_CLM_BAOR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F_CLM_BKCR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F1366_TRAN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Manage Bank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01, 02, 03, 06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F1366A_TRAN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Display Bank Accounts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F5861_TRAN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Submit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(submit flow)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F5859_TRAN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Approve Applications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03, 31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F5860_TRAN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Applications 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03, 31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F6264_TRAN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Approve Changes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03, 63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01, 02, 03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F9015_TRAN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Monitor 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F9017_TRAN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Manage Interest Conditions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Finance  ·  AP / AR / GL / 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Auth objects and SoD touchpoints across the FI 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8912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Sub-domain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Core auth objects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SoD focus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Accounts Payable (AP)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CLOUD_FI_AP_IAM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F_BKPF_BUK / BLA / KOA, F_LFA1_BUK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Invoice creation ≠ payment approval (four-eyes)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Accounts Receivable (AR)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CLOUD_FI_AR_IAM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F_BKPF_BUK / BLA / KOA, F_KNA1_BUK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Dunning ≠ incoming payment posting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General Ledger (GL)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CLOUD_FI_GL_IAM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F_BKPF_BUK / BLA / KOA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Posting ≠ verification ≠ park-and-release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Bank Accounting (BA)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CLOUD_FI_BA_IAM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F_BKPF_BUK + bank statement objects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Statement upload ≠ posting ≠ reconciliation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Example  ·  AP payment-run SoD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167" y="4206240"/>
            <a:ext cx="3383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5167" y="4206240"/>
            <a:ext cx="3383280" cy="4114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4279392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47091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onsolas"/>
              </a:rPr>
              <a:t>F0770_TRAN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50749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Schedule Payment Proposal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4167" y="475488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4207" y="4206240"/>
            <a:ext cx="3383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4207" y="4206240"/>
            <a:ext cx="3383280" cy="4114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4279392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47091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onsolas"/>
              </a:rPr>
              <a:t>F0771_TRAN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50749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Revise Payment Proposal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33207" y="475488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3247" y="4206240"/>
            <a:ext cx="3383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3247" y="4206240"/>
            <a:ext cx="3383280" cy="4114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407" y="4279392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407" y="47091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onsolas"/>
              </a:rPr>
              <a:t>F0673A_TRAN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407" y="50749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Approve Payment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Calibri"/>
              </a:rPr>
              <a:t>All three apps must NOT be held by the same user without compensating control.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Workflow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Workflow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Goal → Execute → Memo, with hooks enforcing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91440" cy="23774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Calibri"/>
              </a:rPr>
              <a:t>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918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Decompose a high-level objective into a step-by-step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32918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Validate all apps in SAP_TC_FIN_TRM_COMMON for FOE/BOE compliance and propose a split.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46304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463040"/>
            <a:ext cx="91440" cy="2377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Calibri"/>
              </a:rPr>
              <a:t>/execute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03120"/>
            <a:ext cx="32918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Run the plan autonomously, chain queries, adapt to findings.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88036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108960"/>
            <a:ext cx="32918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Produces a structured Goal / Summary / Findings / Violations / Recommendations report.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146304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463040"/>
            <a:ext cx="91440" cy="2377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Calibri"/>
              </a:rPr>
              <a:t>/memo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103120"/>
            <a:ext cx="32918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Save and resume investigations across sessions.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288036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108960"/>
            <a:ext cx="32918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Findings, decisions, work-in-progress, known-good baselines preserved as markdown.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Quality hooks  ·  enforced automatically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4434840"/>
          <a:ext cx="11247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2291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229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validate-memo.sh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PreToolUse / Write to .claude/memo/*.md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Blocks writes if any of the 4 required sections is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sync-skills.sh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PostToolUse / Write to .claude/skills/*.md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Auto-syncs skill to skills/ and .claude/commands/ — prevents drift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9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log-query.sh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PostToolUse / mcp__er6__query_sql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Appends every ER6 query with timestamp to .session-log.md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/execute  ·  Structured Output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Every autonomous run produces the same five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011680" cy="7772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0116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508760"/>
            <a:ext cx="9326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9052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Restate the original objective verbatim — what success looks like.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2011680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20116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468880"/>
            <a:ext cx="9326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560320"/>
            <a:ext cx="9052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One-paragraph executive summary  ·  scope, what was checked, headline verdict.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201168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20116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429000"/>
            <a:ext cx="9326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520440"/>
            <a:ext cx="9052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Numbered list of facts: app/auth-object/value combinations actually present in ER6.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201168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80560"/>
            <a:ext cx="20116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Violations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389120"/>
            <a:ext cx="9326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480560"/>
            <a:ext cx="9052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Subset of findings that breach a rule  ·  cite the rule and the specific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2011680" cy="7772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79"/>
            <a:ext cx="20116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5349240"/>
            <a:ext cx="9326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5440679"/>
            <a:ext cx="9052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Concrete next actions  ·  catalog split, value removal, BRT realignment.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Every claim is backed by the queries logged to .session-log.md  →  fully reproducible audit trail.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/memo  ·  Persistent Investigation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Findings survive across sessions and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Sub-commands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9624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/memo save [topic]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Save current session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/memo update [topic]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Append new findings to existing memo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/memo load [topic]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Reload a memo and offer to resume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/memo list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Show all memos from INDEX.md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/memo clear &lt;topic&gt;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Delete a memo (asks for confirmation)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389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Every memo  ·  4 required sections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54864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## Findings</a:t>
            </a:r>
            <a:r>
              <a:rPr sz="1100">
                <a:solidFill>
                  <a:srgbClr val="333333"/>
                </a:solidFill>
                <a:latin typeface="Calibri"/>
              </a:rPr>
              <a:t>  Facts established this session.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## Decisions</a:t>
            </a:r>
            <a:r>
              <a:rPr sz="1100">
                <a:solidFill>
                  <a:srgbClr val="333333"/>
                </a:solidFill>
                <a:latin typeface="Calibri"/>
              </a:rPr>
              <a:t>  Choices made and the why.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## Work in Progress</a:t>
            </a:r>
            <a:r>
              <a:rPr sz="1100">
                <a:solidFill>
                  <a:srgbClr val="333333"/>
                </a:solidFill>
                <a:latin typeface="Calibri"/>
              </a:rPr>
              <a:t>  Open threads, next steps.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## Known Good Baselines</a:t>
            </a:r>
            <a:r>
              <a:rPr sz="1100">
                <a:solidFill>
                  <a:srgbClr val="333333"/>
                </a:solidFill>
                <a:latin typeface="Calibri"/>
              </a:rPr>
              <a:t>  What is verified-correct.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Auto-surfacing on session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Found in-progress memo:
    trm-catalog-split
Last updated 2026-05-10.
Load it to resume?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840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End-to-end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/goal Validate FOE/BOE for CLOUD_FI_TR_IAM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    ↓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/execute  →  produces report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    ↓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/memo save trm-cloud-foe-boe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    ↓ (next session)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Consolas"/>
              </a:rPr>
              <a:t>/memo load trm-cloud-foe-boe  →  resume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Quality Hooks  · 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Three bash hooks that run silently every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49039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749039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47471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validate-memo.sh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474719" cy="3886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Phase: PreToolUse / Write | Edit
Match: .claude/memo/*.md
What it does
  •  Reads the proposed file content
  •  Greps for the 4 required sections
  •  Exits non-zero if any are missing
  •  Reports which sections were missing
  •  Edit short-circuits — partial replace
    is validated on the next full Write
Why it matters
  Prevents shallow / abandoned memos
  Enforces uniform structure across
  every investigation.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3749039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749039" cy="6400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47471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sync-skills.sh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57400"/>
            <a:ext cx="3474719" cy="3886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Phase: PostToolUse / Write | Edit
Match: .claude/skills/*.md
What it does
  •  Copies edited skill to skills/
    (with frontmatter)
  •  Copies it to .claude/commands/
    (frontmatter stripped)
  •  Three locations stay identical
  •  Both Write and Edit are matched
    so partial edits stay in sync
Why it matters
  Skills are the source of domain truth.
  Drift = silent inconsistency.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log-query.sh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3383280" cy="3886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Phase: PostToolUse / query_sql
Match: mcp__er6__query_sql
What it does
  •  Captures every SQL run
  •  Appends to .session-log.md async
  •  Records timestamp + row limit
Why it matters
  Reproducibility  ·  every claim ties
  back to the exact query that
  produced it.
  Audit trail — who asked what when.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E86C1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Examples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Example  ·  Treasury SoD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From one English question to a validated answer in ~60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  <a:latin typeface="Calibri"/>
              </a:rPr>
              <a:t>1.  User 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212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/treasury-iam
For app FTRCAI02_B_TRAN, validate whether it is compliant with BOE SoD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  <a:latin typeface="Calibri"/>
              </a:rPr>
              <a:t>2.  Assistant runs (autonomously)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1.  </a:t>
            </a:r>
            <a:r>
              <a:rPr sz="1300">
                <a:solidFill>
                  <a:srgbClr val="333333"/>
                </a:solidFill>
                <a:latin typeface="Calibri"/>
              </a:rPr>
              <a:t>Look up app in APS_IAM_W_APP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2.  </a:t>
            </a:r>
            <a:r>
              <a:rPr sz="1300">
                <a:solidFill>
                  <a:srgbClr val="333333"/>
                </a:solidFill>
                <a:latin typeface="Calibri"/>
              </a:rPr>
              <a:t>Find catalog via APS_IAM_W_BC_APP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3.  </a:t>
            </a:r>
            <a:r>
              <a:rPr sz="1300">
                <a:solidFill>
                  <a:srgbClr val="333333"/>
                </a:solidFill>
                <a:latin typeface="Calibri"/>
              </a:rPr>
              <a:t>Read auth instances from APPAUI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4.  </a:t>
            </a:r>
            <a:r>
              <a:rPr sz="1300">
                <a:solidFill>
                  <a:srgbClr val="333333"/>
                </a:solidFill>
                <a:latin typeface="Calibri"/>
              </a:rPr>
              <a:t>Pull TRFCT × ACTVT values from APPAUV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5.  </a:t>
            </a:r>
            <a:r>
              <a:rPr sz="1300">
                <a:solidFill>
                  <a:srgbClr val="333333"/>
                </a:solidFill>
                <a:latin typeface="Calibri"/>
              </a:rPr>
              <a:t>Check against BOE forbidden matrix (D2 × 01/02/16/85/KU/VF)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6.  </a:t>
            </a:r>
            <a:r>
              <a:rPr sz="1300">
                <a:solidFill>
                  <a:srgbClr val="333333"/>
                </a:solidFill>
                <a:latin typeface="Calibri"/>
              </a:rPr>
              <a:t>Cross-check BRT linkage in APS_IAM_W_BRTBUC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Calibri"/>
              </a:rPr>
              <a:t>3.  Result  ·  ~60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4864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486400" cy="7315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Calibri"/>
              </a:rPr>
              <a:t>Verdict  ·  COMPLIANT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688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SAP_FIN_BC_TRM_BACK_OFFICE_PC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BRT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9260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SAP_BR_TREASURY_SPECIALIST_BOE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Auth objects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832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T_DEAL_PD, T_DEAL_PF, T_DEAL_DP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TRFCT values held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8404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D3 (Settlement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ACTVT values held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2976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01, 02, 03, 16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Forbidden combo D2 ×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7548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Not present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120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Forbidden combo D2 ×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2120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Not 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692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Cross-BRT exposure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6692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None  (BOE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94360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All findings cite the exact ER6 queries that produced them (auditable).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Query Walk-through  ·  FTRCAI02_B_TRAN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 actual SQL Claude runs to validate one Treasury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alibri"/>
              </a:rPr>
              <a:t>Step 1  ·  Find catalog and BRT for the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11247120" cy="7680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SELECT BU_CATALOG_ID, APP_ID FROM APS_IAM_W_BC_APP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WHERE APP_ID = 'FTRCAI02_B_TRAN'   -- rows: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alibri"/>
              </a:rPr>
              <a:t>Step 2  ·  Pull active auth-object instances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1430000" cy="9144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11247120" cy="7680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SELECT UUID, AUTH_OBJECT FROM APS_IAM_W_APPAUI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WHERE APP_ID = 'FTRCAI02_B_TRAN' AND INACTIVE = ' '   -- rows: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alibri"/>
              </a:rPr>
              <a:t>Step 3  ·  Pull TRFCT and ACTVT field values for those instances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11430000" cy="12801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16552"/>
            <a:ext cx="11247120" cy="11338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SELECT PARENT_ID, FIELD, LOW_VALUE, HIGH_VALUE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FROM APS_IAM_W_APPAUV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WHERE APP_ID = 'FTRCAI02_B_TRAN'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AND FIELD IN ('TRFCT', 'ACTVT')   -- rows: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Calibri"/>
              </a:rPr>
              <a:t>Step 4  ·  Cross-check held (TRFCT, ACTVT) pairs against the BOE forbidden matrix in memory.  ✓ 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What you can ask — by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3848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you can 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assistant does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— FOE/BOE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Validate FTRCAI02_B_TRAN against BOE SoD rules.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Reads APP / catalog / APPAUI / APPAUV; checks D3 forbidden combos; reports verdict.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— split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Catalog SAP_TC_FIN_TRM_COMMON has both D2+01 and D3+01. Propose a split.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Identifies offending apps; groups by office; produces FOE / BOE catalog plan.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Treasury — hedge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Validate T_TOE_HR for SAP_FIN_BC_TRM_HM_HR_FOE_PC.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Pulls HREQ_CAT × ACTVT; checks MOE-forbidden release/reverse on A and 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Cash — four-eyes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Does SAP_BR_CASH_MANAGER violate four-eyes between submit and approve?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Maps BRT → catalogs; cross-checks F_CLM_BAOR ACTVT 31 vs submit catalog.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Cash — health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Run a full health check on F9017_TRAN.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Lists active auth objects, ACTVT values, catalog assignments, BRT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Finance — AP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Trace AP payment flow F0770 → F0771 → F0673A and confirm SoD.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Walks F_BKPF_* and F_LFA1_* across propose / revise / approve.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Finance — 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GL journal entry: post / park / verify — confirm posting controls.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Maps F_BKPF_BUK / BLA / KOA across the three apps.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Cross-cutting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Find all Treasury apps holding D2 and D3 on T_DEAL_PD.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APPAUV scan filtered by TRFCT, joined back to APP and catalog.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Web UI  ·  Stack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Browser chat for the rest of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Stack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Web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FastAPI + Uvicorn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LLM streaming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Anthropic SDK · SSE · Claude Opus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MCP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Subprocess over stdio (er6_mcp_server.py)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OIDC (Authlib) · signed session cookie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Jinja2  ·  ui/templates/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Static assets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ui/static/  (CSS + JS, no bundler)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marked + DOMPurify  ·  vendored locally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Theming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CSS variables · data-theme · Catppuccin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Streaming chat.</a:t>
            </a:r>
            <a:r>
              <a:rPr sz="1000">
                <a:solidFill>
                  <a:srgbClr val="333333"/>
                </a:solidFill>
                <a:latin typeface="Calibri"/>
              </a:rPr>
              <a:t>  Tokens render as they arrive; tool calls expand inline.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Theme toggle.</a:t>
            </a:r>
            <a:r>
              <a:rPr sz="1000">
                <a:solidFill>
                  <a:srgbClr val="333333"/>
                </a:solidFill>
                <a:latin typeface="Calibri"/>
              </a:rPr>
              <a:t>  Light = Catppuccin Latte · Dark = Mocha · persisted in localStorage.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No-flash theme.</a:t>
            </a:r>
            <a:r>
              <a:rPr sz="1000">
                <a:solidFill>
                  <a:srgbClr val="333333"/>
                </a:solidFill>
                <a:latin typeface="Calibri"/>
              </a:rPr>
              <a:t>  Inline &lt;head&gt; script applies saved theme before stylesheet.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Prompt template library.</a:t>
            </a:r>
            <a:r>
              <a:rPr sz="1000">
                <a:solidFill>
                  <a:srgbClr val="333333"/>
                </a:solidFill>
                <a:latin typeface="Calibri"/>
              </a:rPr>
              <a:t>  Categorised welcome screen with 30+ examples.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Session history.</a:t>
            </a:r>
            <a:r>
              <a:rPr sz="1000">
                <a:solidFill>
                  <a:srgbClr val="333333"/>
                </a:solidFill>
                <a:latin typeface="Calibri"/>
              </a:rPr>
              <a:t>  Multiple sessions per user with rename/delete.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OIDC + dev mode.</a:t>
            </a:r>
            <a:r>
              <a:rPr sz="1000">
                <a:solidFill>
                  <a:srgbClr val="333333"/>
                </a:solidFill>
                <a:latin typeface="Calibri"/>
              </a:rPr>
              <a:t>  Real OIDC in prod  ·  auto-login as 'dev' for local.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Tool call transparency.</a:t>
            </a:r>
            <a:r>
              <a:rPr sz="1000">
                <a:solidFill>
                  <a:srgbClr val="333333"/>
                </a:solidFill>
                <a:latin typeface="Calibri"/>
              </a:rPr>
              <a:t>  Every MCP call is shown — table, params, result rows.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Scope: live ER6 only.</a:t>
            </a:r>
            <a:r>
              <a:rPr sz="1000">
                <a:solidFill>
                  <a:srgbClr val="333333"/>
                </a:solidFill>
                <a:latin typeface="Calibri"/>
              </a:rPr>
              <a:t>  /iam-wiki and SAP Confluence access are CLI-only — wiki is a research surface, not an end-user one.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6C1"/>
                </a:solidFill>
                <a:latin typeface="Calibri"/>
              </a:rPr>
              <a:t>▸  </a:t>
            </a:r>
            <a:r>
              <a:rPr sz="1000" b="1">
                <a:solidFill>
                  <a:srgbClr val="1E3A5F"/>
                </a:solidFill>
                <a:latin typeface="Calibri"/>
              </a:rPr>
              <a:t>Vendored libs.</a:t>
            </a:r>
            <a:r>
              <a:rPr sz="1000">
                <a:solidFill>
                  <a:srgbClr val="333333"/>
                </a:solidFill>
                <a:latin typeface="Calibri"/>
              </a:rPr>
              <a:t>  marked + DOMPurify shipped locally — zero CDN dependency.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Prompt Template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Categorised welcome-screen examples to bootstrap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Template Examples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Getting Started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What can I ask?  ·  Glossary BRT/BC/App  ·  What is SoD?  ·  How do roles work?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App → Catalog mapping  ·  Restriction type coverage  ·  BRT catalog tree  ·  Auth object usage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Finance — 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App auth analysis  ·  AP payment flow SoD  ·  Vendor master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Finance — AR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 clearing &amp; incoming payment  ·  AR dunning SoD check  ·  Customer master access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Finance — 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GL posting controls  ·  Activity set check  ·  Document type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Finance — BA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Bank statement health check  ·  Reconciliation auth review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Treasury and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FOE/BOE SoD validation  ·  Catalog split analysis  ·  Hedge request SoD  ·  BRT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Cash Management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Activity set completeness  ·  Submit/Approve SoD  ·  Four-eyes catalog check  ·  IAM health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Performance  ·  Measured Against Live ER6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Validated 2026-05-15 · 20 tests · 100% pass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Round-trip latency by tool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query_sql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10,106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8,728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12,603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read_table_def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8,922 ms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8,650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9,193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list_package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17,322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Selected operations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82880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TADIR · 20 SIA6 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12,603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list_package · 700+ objects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17,322 ms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 · 1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9,592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APS_IAM_W_APP · 20 LIKE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10,732 ms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APPAUI · 5–15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9,129–10,082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APPAUV · 21–50 rows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9,567–12,001 ms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BC_APP · 1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9,343–11,053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BRTBUC · 29–39 rows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9,131–11,223 ms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read_table_def (DDL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8,650–9,193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What this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062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Typical investigation:</a:t>
            </a:r>
            <a:r>
              <a:rPr sz="1100">
                <a:solidFill>
                  <a:srgbClr val="333333"/>
                </a:solidFill>
                <a:latin typeface="Calibri"/>
              </a:rPr>
              <a:t>  5–8 queries  ≈  50–90 s ER6 round-trip.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list_package is slowest.</a:t>
            </a:r>
            <a:r>
              <a:rPr sz="1100">
                <a:solidFill>
                  <a:srgbClr val="333333"/>
                </a:solidFill>
                <a:latin typeface="Calibri"/>
              </a:rPr>
              <a:t>  Avoid on 700+ object packages unless needed.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read_table_def is fastest.</a:t>
            </a:r>
            <a:r>
              <a:rPr sz="1100">
                <a:solidFill>
                  <a:srgbClr val="333333"/>
                </a:solidFill>
                <a:latin typeface="Calibri"/>
              </a:rPr>
              <a:t>  DDL only, no table scan.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Row count has modest impact.</a:t>
            </a:r>
            <a:r>
              <a:rPr sz="1100">
                <a:solidFill>
                  <a:srgbClr val="333333"/>
                </a:solidFill>
                <a:latin typeface="Calibri"/>
              </a:rPr>
              <a:t>  50 rows ≈ 2.5 s slower than 1 row.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6C1"/>
                </a:solidFill>
                <a:latin typeface="Calibri"/>
              </a:rPr>
              <a:t>▸  </a:t>
            </a:r>
            <a:r>
              <a:rPr sz="1100" b="1">
                <a:solidFill>
                  <a:srgbClr val="1E3A5F"/>
                </a:solidFill>
                <a:latin typeface="Calibri"/>
              </a:rPr>
              <a:t>Server-side cache:</a:t>
            </a:r>
            <a:r>
              <a:rPr sz="1100">
                <a:solidFill>
                  <a:srgbClr val="333333"/>
                </a:solidFill>
                <a:latin typeface="Calibri"/>
              </a:rPr>
              <a:t>  Repeat queries run ~19% faster (11.2s → 9.1s).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Read-only by construction · auditable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377440" cy="914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Read-only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17320"/>
            <a:ext cx="8961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90472"/>
            <a:ext cx="8732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All ER6 access goes through the ANZEIGER user — display privileges only. No SAP authorization to write, delete, or release transports. Tool can run during business hours without change-control concerns.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Encrypted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77440"/>
            <a:ext cx="8961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450592"/>
            <a:ext cx="8732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SSL between MCP server and ER6 (sapcli config). Anthropic traffic over TLS. OIDC sessions over HTTPS in production. Session cookies signed with SESSION_SECRET.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2377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337560"/>
            <a:ext cx="8961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3410712"/>
            <a:ext cx="8732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Web UI uses OIDC (Authlib). Each user authenticates with their corporate IdP; session cookie binds queries to a user identity. Dev mode (auto-login as 'dev') is explicitly opt-in via OIDC_CLIENT_ID placeholder.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2377440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4297680"/>
            <a:ext cx="8961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4370832"/>
            <a:ext cx="8732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Every ER6 SQL query is appended to .session-log.md with a timestamp by the log-query hook. Memo files preserve findings per investigation. All answers cite the queries that produced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237744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 data egress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5257800"/>
            <a:ext cx="8961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5330952"/>
            <a:ext cx="8732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Only the LLM provider receives the question, the queries Claude composes, and the row data needed to answer. No bulk dumps; row limits are explicit. All data stays on ER6 except what Claude needs to reason about a question.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Concrete, measured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73152" cy="15544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2E86C1"/>
                </a:solidFill>
                <a:latin typeface="Calibri"/>
              </a:rPr>
              <a:t>50–90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Typical 5–8 query investigation
round-trip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73152" cy="15544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27AE60"/>
                </a:solidFill>
                <a:latin typeface="Calibri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Pass rate on validated
query patterns (20 tests)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73152" cy="1554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E67E22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23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Risk to live data
(read-only ANZEIGER user)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630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73152" cy="15544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0020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1E3A5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423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Quality hooks running
automatically every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Why teams adopt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55778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Speed.</a:t>
            </a:r>
            <a:r>
              <a:rPr sz="1200">
                <a:solidFill>
                  <a:srgbClr val="333333"/>
                </a:solidFill>
                <a:latin typeface="Calibri"/>
              </a:rPr>
              <a:t>  Hours of SE16 navigation collapse to a single conversation.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No SAP expertise required.</a:t>
            </a:r>
            <a:r>
              <a:rPr sz="1200">
                <a:solidFill>
                  <a:srgbClr val="333333"/>
                </a:solidFill>
                <a:latin typeface="Calibri"/>
              </a:rPr>
              <a:t>  Analysts ask in English; the assistant handles SQL and joins.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Encoded SoD knowledge.</a:t>
            </a:r>
            <a:r>
              <a:rPr sz="1200">
                <a:solidFill>
                  <a:srgbClr val="333333"/>
                </a:solidFill>
                <a:latin typeface="Calibri"/>
              </a:rPr>
              <a:t>  FOE/BOE/MOE matrices, TRFCT semantics, country variants — all built 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Auditability.</a:t>
            </a:r>
            <a:r>
              <a:rPr sz="1200">
                <a:solidFill>
                  <a:srgbClr val="333333"/>
                </a:solidFill>
                <a:latin typeface="Calibri"/>
              </a:rPr>
              <a:t>  Every query is logged with timestamp; answers cite their queries.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Read-only by construction.</a:t>
            </a:r>
            <a:r>
              <a:rPr sz="1200">
                <a:solidFill>
                  <a:srgbClr val="333333"/>
                </a:solidFill>
                <a:latin typeface="Calibri"/>
              </a:rPr>
              <a:t>  ANZEIGER user, SSL — safe to use during operations.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657600"/>
            <a:ext cx="55778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Persistent memory.</a:t>
            </a:r>
            <a:r>
              <a:rPr sz="1200">
                <a:solidFill>
                  <a:srgbClr val="333333"/>
                </a:solidFill>
                <a:latin typeface="Calibri"/>
              </a:rPr>
              <a:t>  Multi-day investigations resume cleanly; no lost context.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Reusable skills.</a:t>
            </a:r>
            <a:r>
              <a:rPr sz="1200">
                <a:solidFill>
                  <a:srgbClr val="333333"/>
                </a:solidFill>
                <a:latin typeface="Calibri"/>
              </a:rPr>
              <a:t>  New analysts get full specialist context with /treasury-iam etc.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Autonomous execution.</a:t>
            </a:r>
            <a:r>
              <a:rPr sz="1200">
                <a:solidFill>
                  <a:srgbClr val="333333"/>
                </a:solidFill>
                <a:latin typeface="Calibri"/>
              </a:rPr>
              <a:t>  /execute chains queries, adapts to findings, returns structured reports.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Living documentation.</a:t>
            </a:r>
            <a:r>
              <a:rPr sz="1200">
                <a:solidFill>
                  <a:srgbClr val="333333"/>
                </a:solidFill>
                <a:latin typeface="Calibri"/>
              </a:rPr>
              <a:t>  Skill files and CLAUDE.md accumulate institutional knowledge.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Two access paths.</a:t>
            </a:r>
            <a:r>
              <a:rPr sz="1200">
                <a:solidFill>
                  <a:srgbClr val="333333"/>
                </a:solidFill>
                <a:latin typeface="Calibri"/>
              </a:rPr>
              <a:t>  Power users use the CLI; the team uses the Web 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What we discovered building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Engineering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5778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Skills &gt; prompts.</a:t>
            </a:r>
            <a:r>
              <a:rPr sz="1200">
                <a:solidFill>
                  <a:srgbClr val="333333"/>
                </a:solidFill>
                <a:latin typeface="Calibri"/>
              </a:rPr>
              <a:t>  Versioned skill files keep domain knowledge out of conversation history.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Encode the gotchas.</a:t>
            </a:r>
            <a:r>
              <a:rPr sz="1200">
                <a:solidFill>
                  <a:srgbClr val="333333"/>
                </a:solidFill>
                <a:latin typeface="Calibri"/>
              </a:rPr>
              <a:t>  Every undocumented quirk (BUC unqueryable, GUID app IDs) goes into the skill.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Validation matters.</a:t>
            </a:r>
            <a:r>
              <a:rPr sz="1200">
                <a:solidFill>
                  <a:srgbClr val="333333"/>
                </a:solidFill>
                <a:latin typeface="Calibri"/>
              </a:rPr>
              <a:t>  20 live-data tests caught query patterns that looked right but failed at runtime.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86C1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Hooks are leverage.</a:t>
            </a:r>
            <a:r>
              <a:rPr sz="1200">
                <a:solidFill>
                  <a:srgbClr val="333333"/>
                </a:solidFill>
                <a:latin typeface="Calibri"/>
              </a:rPr>
              <a:t>  Three small bash scripts enforce more discipline than any policy doc.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Adoption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55778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Read-only is liberating.</a:t>
            </a:r>
            <a:r>
              <a:rPr sz="1200">
                <a:solidFill>
                  <a:srgbClr val="333333"/>
                </a:solidFill>
                <a:latin typeface="Calibri"/>
              </a:rPr>
              <a:t>  No change control, no risk — analysts use it freely during operations.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Time-to-answer changes behavior.</a:t>
            </a:r>
            <a:r>
              <a:rPr sz="1200">
                <a:solidFill>
                  <a:srgbClr val="333333"/>
                </a:solidFill>
                <a:latin typeface="Calibri"/>
              </a:rPr>
              <a:t>  When SoD checks are 60 s instead of hours, people actually run them.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Audit trail builds trust.</a:t>
            </a:r>
            <a:r>
              <a:rPr sz="1200">
                <a:solidFill>
                  <a:srgbClr val="333333"/>
                </a:solidFill>
                <a:latin typeface="Calibri"/>
              </a:rPr>
              <a:t>  Every claim shows its query — reviewers verify, not just believe.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▸  </a:t>
            </a:r>
            <a:r>
              <a:rPr sz="1200" b="1">
                <a:solidFill>
                  <a:srgbClr val="1E3A5F"/>
                </a:solidFill>
                <a:latin typeface="Calibri"/>
              </a:rPr>
              <a:t>Persistent memo wins.</a:t>
            </a:r>
            <a:r>
              <a:rPr sz="1200">
                <a:solidFill>
                  <a:srgbClr val="333333"/>
                </a:solidFill>
                <a:latin typeface="Calibri"/>
              </a:rPr>
              <a:t>  Multi-day investigations resume cleanly across sessions and analysts.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Three commands to get going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1.  Install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8229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5303520" cy="6766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$ ./install.sh           # macOS / Linux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$ install.bat            #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2.  Configure  (.env)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5486400" cy="13716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2"/>
            <a:ext cx="5303520" cy="12252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ANTHROPIC_API_KEY=&lt;hyperspace-key&gt;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ANTHROPIC_BASE_URL=http://localhost:6655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OIDC_CLIENT_ID=your-client-id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SESSION_SECRET=&lt;long-random-string&gt;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3. 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5486400" cy="12801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02352"/>
            <a:ext cx="5303520" cy="11338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# Web UI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$ conda run -n sapcli-env \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uvicorn app.main:app --reload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# Then open http://localhost:8080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Calibri"/>
              </a:rPr>
              <a:t>First questions to 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864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What can I ask?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Glossary: what is a BRT, BC, App?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What is SoD and why does it matter?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/treasury-iam  Validate FTRCAI02_B_TRAN for BOE.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/cash-iam  Check four-eyes for SAP_BR_CASH_MANAGER.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/fin-iam  Trace the AP payment flow.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/goal  Audit FOE/BOE for all apps in CLOUD_FI_TR_IAM.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/execute  (after a /goal plan is presented)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›  </a:t>
            </a:r>
            <a:r>
              <a:rPr sz="1200">
                <a:solidFill>
                  <a:srgbClr val="333333"/>
                </a:solidFill>
                <a:latin typeface="Consolas"/>
              </a:rPr>
              <a:t>/memo save trm-foe-boe-validation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Where everything lives in the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49377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1247120" cy="4791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iam-assistant/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CLAUDE.md                     # Claude Code instructions  ·  data dictionary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README.md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pyproject.toml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.sapcli.env                   # ER6 credentials  (not committed; fallback only)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.env                          # Web UI settings  (not committed)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.mcp.json                     # MCP server registration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app/                          # Web UI application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├── main.py                   # FastAPI app  ·  routes  ·  MCP lifespan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├── auth.py                   # OIDC routes  ·  session dependency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├── chat.py                   # Anthropic streaming  ·  tool execution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├── config.py                 # Pydantic settings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└── mcp_client.py             # MCP subprocess client (stdio)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ui/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├── templates/index.html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└── static/  app.js · style.css · prompt-templates.js · vendor/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mcp-server/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│   └── er6_mcp_server.py         # MCP server exposing six ER6 tools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skills/  (mirror)             # treasury-iam · cash-iam · fin-iam · goal · execute · memo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tests/                        # pytest suite (chat / auth / mcp / config / main)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├── docs/                         # this deck lives here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└── .claude/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    ├── hooks/  validate-memo · sync-skills · log-query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    ├── memo/   INDEX.md · .session-log.md · per-investigation memos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    ├── skills/    (source of truth)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    ├── commands/  (slash-command mirror)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    └── settings.json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Common questions from new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Can the assistant modify ER6 data?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No. The ANZEIGER user has display-only privileges. Even if asked, no write is possible.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Is my prompt sent to Anthropic?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Routed through Hyperspace at localhost:6655. Configure ANTHROPIC_BASE_URL in .env.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What if a query fails or times out?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Claude reports the failure, retries with a smaller scope, or falls back to read_table_def to verify column names.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How do I add a new domain (e.g. Procurement)?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Author a new skill file in .claude/skills/. The sync hook propagates it to skills/ and .claude/commands/.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Can two analysts use the Web UI simultaneously?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Yes — each OIDC session is independent; the MCP server multiplexes calls.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Does it work offline?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No. ER6 connectivity is required (and an Anthropic-compatible endpoint).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What happens if a skill conflicts with CLAUDE.md?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Explicit user instructions and CLAUDE.md take precedence over skill content.</a:t>
            </a:r>
          </a:p>
          <a:p>
            <a:pPr>
              <a:spcBef>
                <a:spcPts val="600"/>
              </a:spcBef>
            </a:pPr>
          </a:p>
          <a:p>
            <a:pPr>
              <a:lnSpc>
                <a:spcPct val="115000"/>
              </a:lnSpc>
            </a:pPr>
            <a:r>
              <a:rPr b="1" sz="1200">
                <a:solidFill>
                  <a:srgbClr val="1E3A5F"/>
                </a:solidFill>
                <a:latin typeface="Calibri"/>
              </a:rPr>
              <a:t>Q. Can I run only the CLI without the Web UI?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A. Yes — the CLI uses only the MCP server. The Web UI is a separate optional FastAPI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Roadmap &amp; Open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Where the project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E86C1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Three domain skills live: Treasury, Cash, Finance (AP/AR/GL/BA).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E86C1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Web UI with OIDC auth, theme toggle, prompt template library.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E86C1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Goal/Execute/Memo workflow with three quality hooks.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E86C1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20-test query pattern validation (100% pass).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4630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463040"/>
            <a:ext cx="365760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E67E22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More domains: Procurement, HCM, Group Reporting authorizations.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E67E22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Saved investigation library shared across the team.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E67E22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Inline charts: catalog coverage, BRT footprint heatmaps.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E67E22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Diff mode: pre / post-migration auth comparison reports.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4630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46304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536192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10312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7AE60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Multi-system support (DEV / QAS / PRD switching).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7AE60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Scheduled audits with email/Slack delivery.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7AE60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Self-service onboarding wizard for new analysts.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27AE60"/>
                </a:solidFill>
                <a:latin typeface="Calibri"/>
              </a:rPr>
              <a:t>•  </a:t>
            </a:r>
            <a:r>
              <a:rPr sz="1200">
                <a:solidFill>
                  <a:srgbClr val="333333"/>
                </a:solidFill>
                <a:latin typeface="Calibri"/>
              </a:rPr>
              <a:t>Optional write-mode (with approval gating) for remediation.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IAM Assistant  ·  Claude Code–powered IAM analysis on SAP ER6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CFDBE8"/>
                </a:solidFill>
                <a:latin typeface="Calibri"/>
              </a:rPr>
              <a:t>Questions, demos, and prompt experiments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7E22"/>
                </a:solidFill>
                <a:latin typeface="Calibri"/>
              </a:rPr>
              <a:t>IAM Assistant  ·  built with Claude Code on SAP ER6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