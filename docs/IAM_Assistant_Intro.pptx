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tools.sap/I015289/iam-assistant" TargetMode="Externa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144000" cy="10972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Calibri"/>
              </a:rPr>
              <a:t>IAM Assistant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017520"/>
            <a:ext cx="91440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2000" b="0">
                <a:solidFill>
                  <a:srgbClr val="A8C8E8"/>
                </a:solidFill>
                <a:latin typeface="Calibri"/>
              </a:rPr>
              <a:t>Smarter SAP IAM Analysis — powered by Claude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931920"/>
            <a:ext cx="9144000" cy="160659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lang="en-US" sz="1400" b="1" dirty="0">
                <a:solidFill>
                  <a:srgbClr val="E67E22"/>
                </a:solidFill>
              </a:rPr>
              <a:t>Team Member:  John Wang ( I015289 )</a:t>
            </a:r>
          </a:p>
          <a:p>
            <a:pPr algn="ctr"/>
            <a:r>
              <a:rPr lang="en-US" sz="1400" b="1" dirty="0">
                <a:solidFill>
                  <a:srgbClr val="E67E22"/>
                </a:solidFill>
              </a:rPr>
              <a:t>                              Fiona Wang ( I300238 )</a:t>
            </a:r>
          </a:p>
          <a:p>
            <a:pPr algn="ctr"/>
            <a:r>
              <a:rPr lang="en-US" sz="1400" b="1" dirty="0">
                <a:solidFill>
                  <a:srgbClr val="E67E22"/>
                </a:solidFill>
              </a:rPr>
              <a:t>                              Sylvia Liu ( I048974 )</a:t>
            </a:r>
          </a:p>
          <a:p>
            <a:pPr algn="ctr"/>
            <a:r>
              <a:rPr lang="en-US" sz="1400" b="1" dirty="0">
                <a:solidFill>
                  <a:srgbClr val="E67E22"/>
                </a:solidFill>
              </a:rPr>
              <a:t>                              Kai Liu ( I302470 )</a:t>
            </a:r>
          </a:p>
          <a:p>
            <a:pPr algn="ctr"/>
            <a:endParaRPr lang="en-US" sz="1400" b="1" dirty="0">
              <a:solidFill>
                <a:srgbClr val="E67E22"/>
              </a:solidFill>
              <a:latin typeface="Calibri"/>
            </a:endParaRPr>
          </a:p>
          <a:p>
            <a:pPr algn="ctr"/>
            <a:r>
              <a:rPr lang="en-CN" sz="1400" dirty="0">
                <a:solidFill>
                  <a:srgbClr val="E67E22"/>
                </a:solidFill>
              </a:rPr>
              <a:t>📦 </a:t>
            </a:r>
            <a:r>
              <a:rPr lang="en-US" sz="1400" dirty="0">
                <a:solidFill>
                  <a:srgbClr val="E67E22"/>
                </a:solidFill>
              </a:rPr>
              <a:t>GitHub Repository: </a:t>
            </a:r>
            <a:r>
              <a:rPr lang="en-US" sz="1400" dirty="0"/>
              <a:t> </a:t>
            </a:r>
            <a:r>
              <a:rPr lang="en-US" sz="1400" dirty="0">
                <a:solidFill>
                  <a:srgbClr val="E67E22"/>
                </a:solidFill>
                <a:hlinkClick r:id="rId2" tooltip="https://github.tools.sap/I015289/iam-assista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https://github.tools.sap/I015289/iam-assistant</a:t>
            </a:r>
            <a:endParaRPr lang="en-US" sz="1400" dirty="0">
              <a:solidFill>
                <a:srgbClr val="E67E22"/>
              </a:solidFill>
            </a:endParaRPr>
          </a:p>
          <a:p>
            <a:pPr algn="ctr"/>
            <a:endParaRPr sz="1400" b="0" dirty="0">
              <a:solidFill>
                <a:srgbClr val="78A0C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5943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47120" cy="38404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IAM analysis today is slow, manual, and expert-dependent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430000" cy="36576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594360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Calibri"/>
              </a:rPr>
              <a:t>A typical investigation requires: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20240"/>
            <a:ext cx="5669280" cy="3474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400" b="1">
                <a:solidFill>
                  <a:srgbClr val="2E86C1"/>
                </a:solidFill>
                <a:latin typeface="Calibri"/>
              </a:rPr>
              <a:t>▸  </a:t>
            </a:r>
            <a:r>
              <a:rPr sz="1400" b="1">
                <a:solidFill>
                  <a:srgbClr val="1E3A5F"/>
                </a:solidFill>
                <a:latin typeface="Calibri"/>
              </a:rPr>
              <a:t>SAP developer access  </a:t>
            </a:r>
            <a:r>
              <a:rPr sz="1400">
                <a:solidFill>
                  <a:srgbClr val="333333"/>
                </a:solidFill>
                <a:latin typeface="Calibri"/>
              </a:rPr>
              <a:t>  SE16, cross-table navigation, ABAP knowledge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400" b="1">
                <a:solidFill>
                  <a:srgbClr val="2E86C1"/>
                </a:solidFill>
                <a:latin typeface="Calibri"/>
              </a:rPr>
              <a:t>▸  </a:t>
            </a:r>
            <a:r>
              <a:rPr sz="1400" b="1">
                <a:solidFill>
                  <a:srgbClr val="1E3A5F"/>
                </a:solidFill>
                <a:latin typeface="Calibri"/>
              </a:rPr>
              <a:t>Manual cross-referencing  </a:t>
            </a:r>
            <a:r>
              <a:rPr sz="1400">
                <a:solidFill>
                  <a:srgbClr val="333333"/>
                </a:solidFill>
                <a:latin typeface="Calibri"/>
              </a:rPr>
              <a:t>  auth objects, catalogs, BRTs, field values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400" b="1">
                <a:solidFill>
                  <a:srgbClr val="2E86C1"/>
                </a:solidFill>
                <a:latin typeface="Calibri"/>
              </a:rPr>
              <a:t>▸  </a:t>
            </a:r>
            <a:r>
              <a:rPr sz="1400" b="1">
                <a:solidFill>
                  <a:srgbClr val="1E3A5F"/>
                </a:solidFill>
                <a:latin typeface="Calibri"/>
              </a:rPr>
              <a:t>Deep domain expertise  </a:t>
            </a:r>
            <a:r>
              <a:rPr sz="1400">
                <a:solidFill>
                  <a:srgbClr val="333333"/>
                </a:solidFill>
                <a:latin typeface="Calibri"/>
              </a:rPr>
              <a:t>  SoD rules, TRFCT semantics, IAM table structure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400" b="1">
                <a:solidFill>
                  <a:srgbClr val="2E86C1"/>
                </a:solidFill>
                <a:latin typeface="Calibri"/>
              </a:rPr>
              <a:t>▸  </a:t>
            </a:r>
            <a:r>
              <a:rPr sz="1400" b="1">
                <a:solidFill>
                  <a:srgbClr val="1E3A5F"/>
                </a:solidFill>
                <a:latin typeface="Calibri"/>
              </a:rPr>
              <a:t>Hours of effort  </a:t>
            </a:r>
            <a:r>
              <a:rPr sz="1400">
                <a:solidFill>
                  <a:srgbClr val="333333"/>
                </a:solidFill>
                <a:latin typeface="Calibri"/>
              </a:rPr>
              <a:t>  for a question that should take minutes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0" y="1463040"/>
            <a:ext cx="438912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20" y="1920240"/>
            <a:ext cx="438912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300" b="1">
                <a:solidFill>
                  <a:srgbClr val="666666"/>
                </a:solidFill>
                <a:latin typeface="Calibri"/>
              </a:rPr>
              <a:t>Before IAM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2560320"/>
            <a:ext cx="4389120" cy="10058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5200" b="1">
                <a:solidFill>
                  <a:srgbClr val="C0392B"/>
                </a:solidFill>
                <a:latin typeface="Calibri"/>
              </a:rPr>
              <a:t>Hours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3566160"/>
            <a:ext cx="43891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400" b="0">
                <a:solidFill>
                  <a:srgbClr val="666666"/>
                </a:solidFill>
                <a:latin typeface="Calibri"/>
              </a:rPr>
              <a:t>per investigation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4206240"/>
            <a:ext cx="2194560" cy="36576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132320" y="4389120"/>
            <a:ext cx="438912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200" b="0">
                <a:solidFill>
                  <a:srgbClr val="666666"/>
                </a:solidFill>
                <a:latin typeface="Calibri"/>
              </a:rPr>
              <a:t>Requires an SAP consultant
with direct system access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5943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What Is IAM Assistant?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47120" cy="38404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A conversational AI that queries live SAP data in plain English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430000" cy="36576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Ask questions in natural language. Get answers from live ER6 data — no SAP access, no SQL, no manual table navigation.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03120"/>
            <a:ext cx="548640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2286000"/>
            <a:ext cx="50292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700" b="1">
                <a:solidFill>
                  <a:srgbClr val="1E3A5F"/>
                </a:solidFill>
                <a:latin typeface="Calibri"/>
              </a:rPr>
              <a:t>⌨  Claude Code CLI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834640"/>
            <a:ext cx="5029200" cy="27432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2926080"/>
            <a:ext cx="4937760" cy="2560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1">
                <a:solidFill>
                  <a:srgbClr val="2E86C1"/>
                </a:solidFill>
                <a:latin typeface="Calibri"/>
              </a:rPr>
              <a:t>▸  </a:t>
            </a:r>
            <a:r>
              <a:rPr sz="1300">
                <a:solidFill>
                  <a:srgbClr val="333333"/>
                </a:solidFill>
                <a:latin typeface="Calibri"/>
              </a:rPr>
              <a:t>Specialist modes: /treasury-iam, /cash-iam, /fin-iam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1">
                <a:solidFill>
                  <a:srgbClr val="2E86C1"/>
                </a:solidFill>
                <a:latin typeface="Calibri"/>
              </a:rPr>
              <a:t>▸  </a:t>
            </a:r>
            <a:r>
              <a:rPr sz="1300">
                <a:solidFill>
                  <a:srgbClr val="333333"/>
                </a:solidFill>
                <a:latin typeface="Calibri"/>
              </a:rPr>
              <a:t>Persistent memo system — findings survive sessions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1">
                <a:solidFill>
                  <a:srgbClr val="2E86C1"/>
                </a:solidFill>
                <a:latin typeface="Calibri"/>
              </a:rPr>
              <a:t>▸  </a:t>
            </a:r>
            <a:r>
              <a:rPr sz="1300">
                <a:solidFill>
                  <a:srgbClr val="333333"/>
                </a:solidFill>
                <a:latin typeface="Calibri"/>
              </a:rPr>
              <a:t>Autonomous /execute agent for multi-step investigations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1">
                <a:solidFill>
                  <a:srgbClr val="2E86C1"/>
                </a:solidFill>
                <a:latin typeface="Calibri"/>
              </a:rPr>
              <a:t>▸  </a:t>
            </a:r>
            <a:r>
              <a:rPr sz="1300">
                <a:solidFill>
                  <a:srgbClr val="333333"/>
                </a:solidFill>
                <a:latin typeface="Calibri"/>
              </a:rPr>
              <a:t>Ideal for power users and analysts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2103120"/>
            <a:ext cx="548640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29400" y="2286000"/>
            <a:ext cx="50292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700" b="1">
                <a:solidFill>
                  <a:srgbClr val="1E3A5F"/>
                </a:solidFill>
                <a:latin typeface="Calibri"/>
              </a:rPr>
              <a:t>🌐  Web UI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29400" y="2834640"/>
            <a:ext cx="5029200" cy="27432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29400" y="2926080"/>
            <a:ext cx="4937760" cy="2560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1">
                <a:solidFill>
                  <a:srgbClr val="2E86C1"/>
                </a:solidFill>
                <a:latin typeface="Calibri"/>
              </a:rPr>
              <a:t>▸  </a:t>
            </a:r>
            <a:r>
              <a:rPr sz="1300">
                <a:solidFill>
                  <a:srgbClr val="333333"/>
                </a:solidFill>
                <a:latin typeface="Calibri"/>
              </a:rPr>
              <a:t>Browser-based chat — no CLI knowledge needed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1">
                <a:solidFill>
                  <a:srgbClr val="2E86C1"/>
                </a:solidFill>
                <a:latin typeface="Calibri"/>
              </a:rPr>
              <a:t>▸  </a:t>
            </a:r>
            <a:r>
              <a:rPr sz="1300">
                <a:solidFill>
                  <a:srgbClr val="333333"/>
                </a:solidFill>
                <a:latin typeface="Calibri"/>
              </a:rPr>
              <a:t>Streaming responses with live query progress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1">
                <a:solidFill>
                  <a:srgbClr val="2E86C1"/>
                </a:solidFill>
                <a:latin typeface="Calibri"/>
              </a:rPr>
              <a:t>▸  </a:t>
            </a:r>
            <a:r>
              <a:rPr sz="1300">
                <a:solidFill>
                  <a:srgbClr val="333333"/>
                </a:solidFill>
                <a:latin typeface="Calibri"/>
              </a:rPr>
              <a:t>Prompt library with ready-made investigation templates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1">
                <a:solidFill>
                  <a:srgbClr val="2E86C1"/>
                </a:solidFill>
                <a:latin typeface="Calibri"/>
              </a:rPr>
              <a:t>▸  </a:t>
            </a:r>
            <a:r>
              <a:rPr sz="1300">
                <a:solidFill>
                  <a:srgbClr val="333333"/>
                </a:solidFill>
                <a:latin typeface="Calibri"/>
              </a:rPr>
              <a:t>Shareable access across the team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5943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Key Capabilities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47120" cy="38404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Built-in domain expertise across Treasury, Cash Management, and Finance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430000" cy="36576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548640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201168" cy="2011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49377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1">
                <a:solidFill>
                  <a:srgbClr val="1E3A5F"/>
                </a:solidFill>
                <a:latin typeface="Calibri"/>
              </a:rPr>
              <a:t>Treasury IAM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40280"/>
            <a:ext cx="4846320" cy="11887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FOE / BOE / MOE SoD rules, TRFCT forbidden combinations, hedge request management, BRT audits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554480"/>
            <a:ext cx="548640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17920" y="1554480"/>
            <a:ext cx="201168" cy="201168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83680" y="1737360"/>
            <a:ext cx="49377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1">
                <a:solidFill>
                  <a:srgbClr val="2E86C1"/>
                </a:solidFill>
                <a:latin typeface="Calibri"/>
              </a:rPr>
              <a:t>Cash Management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240280"/>
            <a:ext cx="4846320" cy="11887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Bank account lifecycle auth, four-eyes principle, submit/approve segregation, interest management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840480"/>
            <a:ext cx="548640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7200" y="3840480"/>
            <a:ext cx="201168" cy="201168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4023360"/>
            <a:ext cx="49377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1">
                <a:solidFill>
                  <a:srgbClr val="27AE60"/>
                </a:solidFill>
                <a:latin typeface="Calibri"/>
              </a:rPr>
              <a:t>Finance (AP/AR/GL)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526280"/>
            <a:ext cx="4846320" cy="11887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Accounts payable/receivable/general ledger auth objects, payment run SoD, journal entry controls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3840480"/>
            <a:ext cx="548640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217920" y="3840480"/>
            <a:ext cx="201168" cy="201168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83680" y="4023360"/>
            <a:ext cx="49377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1">
                <a:solidFill>
                  <a:srgbClr val="E67E22"/>
                </a:solidFill>
                <a:latin typeface="Calibri"/>
              </a:rPr>
              <a:t>Autonomous 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526280"/>
            <a:ext cx="4846320" cy="11887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/execute chains multiple queries, adapts to findings, and delivers a structured report — no prompting needed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5943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In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47120" cy="38404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A 5-query SoD investigation — from question to answer in under 90 seconds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430000" cy="36576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11247120" cy="77724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572768"/>
            <a:ext cx="10789920" cy="5943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"Does SAP_BR_CASH_MANAGER violate the four-eyes principle across submit and approve catalogs?"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423160"/>
            <a:ext cx="475488" cy="50292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475488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478024"/>
            <a:ext cx="960120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Look up all catalogs assigned to the BRT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081528"/>
            <a:ext cx="475488" cy="50292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3081528"/>
            <a:ext cx="475488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136392"/>
            <a:ext cx="960120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For each catalog, retrieve all apps and their auth objects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739896"/>
            <a:ext cx="475488" cy="50292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3739896"/>
            <a:ext cx="475488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794760"/>
            <a:ext cx="960120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Check F_CLM_BAOR ACTVT values — submit (01/06) vs approve (31)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98264"/>
            <a:ext cx="475488" cy="50292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4398264"/>
            <a:ext cx="475488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453128"/>
            <a:ext cx="960120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Confirm four-eyes: submit and approve apps are in separate catalogs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056632"/>
            <a:ext cx="475488" cy="50292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" y="5056632"/>
            <a:ext cx="475488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111496"/>
            <a:ext cx="960120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Produce structured report: findings, verdict, recommendation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6800" y="5486400"/>
            <a:ext cx="3017520" cy="100584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686800" y="5532120"/>
            <a:ext cx="301752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50 – 90 seconds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035040"/>
            <a:ext cx="30175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200" b="0">
                <a:solidFill>
                  <a:srgbClr val="A8C8E8"/>
                </a:solidFill>
                <a:latin typeface="Calibri"/>
              </a:rPr>
              <a:t>end-to-end investigation time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5943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Safe by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47120" cy="38404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Read-only access — no risk of accidental data modification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430000" cy="36576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548640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64008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2800" b="0">
                <a:solidFill>
                  <a:srgbClr val="333333"/>
                </a:solidFill>
                <a:latin typeface="Calibri"/>
              </a:rPr>
              <a:t>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719072"/>
            <a:ext cx="42976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1">
                <a:solidFill>
                  <a:srgbClr val="27AE60"/>
                </a:solidFill>
                <a:latin typeface="Calibri"/>
              </a:rPr>
              <a:t>Read-Only Access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212848"/>
            <a:ext cx="4297680" cy="10972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All queries run as the ANZEIGER display user. Write operations are impossible — even if requested.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554480"/>
            <a:ext cx="548640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92240" y="1737360"/>
            <a:ext cx="64008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2800" b="0">
                <a:solidFill>
                  <a:srgbClr val="333333"/>
                </a:solidFill>
                <a:latin typeface="Calibri"/>
              </a:rPr>
              <a:t>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1719072"/>
            <a:ext cx="42976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1">
                <a:solidFill>
                  <a:srgbClr val="2E86C1"/>
                </a:solidFill>
                <a:latin typeface="Calibri"/>
              </a:rPr>
              <a:t>SSL Encrypted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212848"/>
            <a:ext cx="4297680" cy="10972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All traffic between the assistant and ER6 is SSL-encrypted. Credentials never leave the system.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840480"/>
            <a:ext cx="548640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4023360"/>
            <a:ext cx="64008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2800" b="0">
                <a:solidFill>
                  <a:srgbClr val="333333"/>
                </a:solidFill>
                <a:latin typeface="Calibri"/>
              </a:rPr>
              <a:t>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4005072"/>
            <a:ext cx="42976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1">
                <a:solidFill>
                  <a:srgbClr val="E67E22"/>
                </a:solidFill>
                <a:latin typeface="Calibri"/>
              </a:rPr>
              <a:t>No Change Management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498848"/>
            <a:ext cx="4297680" cy="10972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The tool can be used freely during live operations — no change request, no system freeze required.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3840480"/>
            <a:ext cx="548640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92240" y="4023360"/>
            <a:ext cx="64008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2800" b="0">
                <a:solidFill>
                  <a:srgbClr val="333333"/>
                </a:solidFill>
                <a:latin typeface="Calibri"/>
              </a:rPr>
              <a:t>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4005072"/>
            <a:ext cx="42976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1">
                <a:solidFill>
                  <a:srgbClr val="1E3A5F"/>
                </a:solidFill>
                <a:latin typeface="Calibri"/>
              </a:rPr>
              <a:t>Full Audit Trail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4498848"/>
            <a:ext cx="4297680" cy="10972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Every ER6 query is logged with a timestamp to .session-log.md. Full replay and audit capability.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5943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Impact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47120" cy="38404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What changes when your team uses IAM Assistant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430000" cy="36576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2651760" cy="164592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737360"/>
            <a:ext cx="2651760" cy="7772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4400" b="1">
                <a:solidFill>
                  <a:srgbClr val="27AE60"/>
                </a:solidFill>
                <a:latin typeface="Calibri"/>
              </a:rPr>
              <a:t>~90 sec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468880"/>
            <a:ext cx="26517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Calibri"/>
              </a:rPr>
              <a:t>per investigation
(was: hours)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554480"/>
            <a:ext cx="2651760" cy="164592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91840" y="1737360"/>
            <a:ext cx="2651760" cy="7772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4400" b="1">
                <a:solidFill>
                  <a:srgbClr val="2E86C1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468880"/>
            <a:ext cx="26517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Calibri"/>
              </a:rPr>
              <a:t>domain specialist
role modes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554480"/>
            <a:ext cx="2651760" cy="164592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26480" y="1737360"/>
            <a:ext cx="2651760" cy="7772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4400" b="1">
                <a:solidFill>
                  <a:srgbClr val="1E3A5F"/>
                </a:solidFill>
                <a:latin typeface="Calibri"/>
              </a:rP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2468880"/>
            <a:ext cx="26517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Calibri"/>
              </a:rPr>
              <a:t>query test
pass rate (20 tests)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61120" y="1554480"/>
            <a:ext cx="2651760" cy="164592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61120" y="1737360"/>
            <a:ext cx="2651760" cy="7772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4400" b="1">
                <a:solidFill>
                  <a:srgbClr val="E67E22"/>
                </a:solidFill>
                <a:latin typeface="Calibri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2468880"/>
            <a:ext cx="26517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Calibri"/>
              </a:rPr>
              <a:t>risk to live data
(read-only ANZEIGER)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474720"/>
            <a:ext cx="5486400" cy="4114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7200" y="3511296"/>
            <a:ext cx="5486400" cy="34747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Before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977639"/>
            <a:ext cx="5120640" cy="2286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1">
                <a:solidFill>
                  <a:srgbClr val="C0392B"/>
                </a:solidFill>
                <a:latin typeface="Calibri"/>
              </a:rPr>
              <a:t>▸  </a:t>
            </a:r>
            <a:r>
              <a:rPr sz="1300">
                <a:solidFill>
                  <a:srgbClr val="333333"/>
                </a:solidFill>
                <a:latin typeface="Calibri"/>
              </a:rPr>
              <a:t>SAP developer required for every query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1">
                <a:solidFill>
                  <a:srgbClr val="C0392B"/>
                </a:solidFill>
                <a:latin typeface="Calibri"/>
              </a:rPr>
              <a:t>▸  </a:t>
            </a:r>
            <a:r>
              <a:rPr sz="1300">
                <a:solidFill>
                  <a:srgbClr val="333333"/>
                </a:solidFill>
                <a:latin typeface="Calibri"/>
              </a:rPr>
              <a:t>Hours of manual table cross-referencing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1">
                <a:solidFill>
                  <a:srgbClr val="C0392B"/>
                </a:solidFill>
                <a:latin typeface="Calibri"/>
              </a:rPr>
              <a:t>▸  </a:t>
            </a:r>
            <a:r>
              <a:rPr sz="1300">
                <a:solidFill>
                  <a:srgbClr val="333333"/>
                </a:solidFill>
                <a:latin typeface="Calibri"/>
              </a:rPr>
              <a:t>SoD rules in individual analysts' heads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1">
                <a:solidFill>
                  <a:srgbClr val="C0392B"/>
                </a:solidFill>
                <a:latin typeface="Calibri"/>
              </a:rPr>
              <a:t>▸  </a:t>
            </a:r>
            <a:r>
              <a:rPr sz="1300">
                <a:solidFill>
                  <a:srgbClr val="333333"/>
                </a:solidFill>
                <a:latin typeface="Calibri"/>
              </a:rPr>
              <a:t>Findings lost between sessions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3474720"/>
            <a:ext cx="5486400" cy="41148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0" y="3511296"/>
            <a:ext cx="5486400" cy="34747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After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3977639"/>
            <a:ext cx="5120640" cy="2286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1">
                <a:solidFill>
                  <a:srgbClr val="27AE60"/>
                </a:solidFill>
                <a:latin typeface="Calibri"/>
              </a:rPr>
              <a:t>▸  </a:t>
            </a:r>
            <a:r>
              <a:rPr sz="1300">
                <a:solidFill>
                  <a:srgbClr val="333333"/>
                </a:solidFill>
                <a:latin typeface="Calibri"/>
              </a:rPr>
              <a:t>Any analyst asks in plain English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1">
                <a:solidFill>
                  <a:srgbClr val="27AE60"/>
                </a:solidFill>
                <a:latin typeface="Calibri"/>
              </a:rPr>
              <a:t>▸  </a:t>
            </a:r>
            <a:r>
              <a:rPr sz="1300">
                <a:solidFill>
                  <a:srgbClr val="333333"/>
                </a:solidFill>
                <a:latin typeface="Calibri"/>
              </a:rPr>
              <a:t>50–90 seconds, fully automated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1">
                <a:solidFill>
                  <a:srgbClr val="27AE60"/>
                </a:solidFill>
                <a:latin typeface="Calibri"/>
              </a:rPr>
              <a:t>▸  </a:t>
            </a:r>
            <a:r>
              <a:rPr sz="1300">
                <a:solidFill>
                  <a:srgbClr val="333333"/>
                </a:solidFill>
                <a:latin typeface="Calibri"/>
              </a:rPr>
              <a:t>Built-in rules: FOE/BOE, four-eyes, SoD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1">
                <a:solidFill>
                  <a:srgbClr val="27AE60"/>
                </a:solidFill>
                <a:latin typeface="Calibri"/>
              </a:rPr>
              <a:t>▸  </a:t>
            </a:r>
            <a:r>
              <a:rPr sz="1300">
                <a:solidFill>
                  <a:srgbClr val="333333"/>
                </a:solidFill>
                <a:latin typeface="Calibri"/>
              </a:rPr>
              <a:t>Persistent memos — knowledge accumulates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0" y="914400"/>
            <a:ext cx="914400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What's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993392"/>
            <a:ext cx="54864" cy="4572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645920" y="1920240"/>
            <a:ext cx="18288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1">
                <a:solidFill>
                  <a:srgbClr val="2E86C1"/>
                </a:solidFill>
                <a:latin typeface="Calibri"/>
              </a:rPr>
              <a:t>Status: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920240"/>
            <a:ext cx="77724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0">
                <a:solidFill>
                  <a:srgbClr val="CCDDEE"/>
                </a:solidFill>
                <a:latin typeface="Calibri"/>
              </a:rPr>
              <a:t>Live and running on ER6 today — Treasury, Cash Management, and Finance domains covered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2862072"/>
            <a:ext cx="54864" cy="4572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645920" y="2788920"/>
            <a:ext cx="18288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1">
                <a:solidFill>
                  <a:srgbClr val="2E86C1"/>
                </a:solidFill>
                <a:latin typeface="Calibri"/>
              </a:rPr>
              <a:t>Access: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788920"/>
            <a:ext cx="77724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0">
                <a:solidFill>
                  <a:srgbClr val="CCDDEE"/>
                </a:solidFill>
                <a:latin typeface="Calibri"/>
              </a:rPr>
              <a:t>Web UI available via browser; Claude Code CLI for analysts who prefer terminal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3730752"/>
            <a:ext cx="54864" cy="4572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645920" y="3657600"/>
            <a:ext cx="18288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1">
                <a:solidFill>
                  <a:srgbClr val="2E86C1"/>
                </a:solidFill>
                <a:latin typeface="Calibri"/>
              </a:rPr>
              <a:t>Domains: 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3657600"/>
            <a:ext cx="77724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0">
                <a:solidFill>
                  <a:srgbClr val="CCDDEE"/>
                </a:solidFill>
                <a:latin typeface="Calibri"/>
              </a:rPr>
              <a:t>Further expansion planned — AP/AR/GL coverage maturing, additional country variants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4599432"/>
            <a:ext cx="54864" cy="4572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645920" y="4526280"/>
            <a:ext cx="18288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1">
                <a:solidFill>
                  <a:srgbClr val="2E86C1"/>
                </a:solidFill>
                <a:latin typeface="Calibri"/>
              </a:rPr>
              <a:t>Contribution: 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4526280"/>
            <a:ext cx="77724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0">
                <a:solidFill>
                  <a:srgbClr val="CCDDEE"/>
                </a:solidFill>
                <a:latin typeface="Calibri"/>
              </a:rPr>
              <a:t>Skill files are versioned — domain rules can be extended by the IAM team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71600" y="5486400"/>
            <a:ext cx="9144000" cy="36576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371600" y="5623560"/>
            <a:ext cx="91440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0cf7ac0a-4681-4823-ab0b-04ef02c5f873}" enabled="1" method="Standard" siteId="{42f7676c-f455-423c-82f6-dc2d99791af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719</Words>
  <Application>Microsoft Macintosh PowerPoint</Application>
  <PresentationFormat>Widescreen</PresentationFormat>
  <Paragraphs>101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Wang, John</cp:lastModifiedBy>
  <cp:revision>2</cp:revision>
  <dcterms:created xsi:type="dcterms:W3CDTF">2013-01-27T09:14:16Z</dcterms:created>
  <dcterms:modified xsi:type="dcterms:W3CDTF">2026-06-12T06:13:47Z</dcterms:modified>
  <cp:category/>
</cp:coreProperties>
</file>